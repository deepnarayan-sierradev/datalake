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5943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383E48"/>
                </a:solidFill>
                <a:latin typeface="Open Sauce Bold"/>
              </a:rPr>
              <a:t>Enterprise Data Lake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56082"/>
                </a:solidFill>
                <a:latin typeface="Open Sauce"/>
              </a:rPr>
              <a:t>Automated  ·  Metadata-Driven  ·  Cloud-Native  ·  Governed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24028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59152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Open Sauce"/>
              </a:rPr>
              <a:t>A unified platform connecting Salesforce CRM, MySQL RDS, and Sage ERP
into a single trusted, analytics-ready data foundation — built on AWS.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429000"/>
            <a:ext cx="2514600" cy="420624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46557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uce Bold"/>
              </a:rPr>
              <a:t>Dev  ✅  Live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3429000"/>
            <a:ext cx="2514600" cy="42062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346557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uce Bold"/>
              </a:rPr>
              <a:t>Staging  🔲  Next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3429000"/>
            <a:ext cx="2514600" cy="420624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346557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uce Bold"/>
              </a:rPr>
              <a:t>Production  🔲  Planned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Open Sauce"/>
              </a:rPr>
              <a:t>Platform Engineering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83E48"/>
                </a:solidFill>
                <a:latin typeface="Open Sauce Bold"/>
              </a:rPr>
              <a:t>The Problem We Solved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56082"/>
                </a:solidFill>
                <a:latin typeface="Open Sauce"/>
              </a:rPr>
              <a:t>Data lived in silos — disconnected, delayed, and insecure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2240280" cy="3657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728216"/>
            <a:ext cx="2130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uce Bold"/>
              </a:rPr>
              <a:t>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1664208"/>
            <a:ext cx="2240280" cy="3657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3512" y="1728216"/>
            <a:ext cx="2130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uce Bold"/>
              </a:rPr>
              <a:t>What it held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664208"/>
            <a:ext cx="2148840" cy="3657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76672" y="1728216"/>
            <a:ext cx="2039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uce Bold"/>
              </a:rPr>
              <a:t>Who used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664208"/>
            <a:ext cx="2103120" cy="3657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62672" y="1728216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uce Bold"/>
              </a:rPr>
              <a:t>Pain point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029968"/>
            <a:ext cx="22402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2093976"/>
            <a:ext cx="2130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Salesforce CRM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2029968"/>
            <a:ext cx="22402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53512" y="2093976"/>
            <a:ext cx="2130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Accounts &amp; contacts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2029968"/>
            <a:ext cx="21488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6672" y="2093976"/>
            <a:ext cx="2039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Sales, 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2029968"/>
            <a:ext cx="21031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2" y="2093976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Manual exports; no audit trail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487168"/>
            <a:ext cx="224028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2551176"/>
            <a:ext cx="2130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MySQL RDS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2487168"/>
            <a:ext cx="224028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53512" y="2551176"/>
            <a:ext cx="2130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Contracts &amp; orders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2487168"/>
            <a:ext cx="214884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76672" y="2551176"/>
            <a:ext cx="2039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Operations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2487168"/>
            <a:ext cx="210312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62672" y="2551176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24–72 hr delay; brittle scripts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944368"/>
            <a:ext cx="22402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" y="3008376"/>
            <a:ext cx="2130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Sage Intacct/X3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2944368"/>
            <a:ext cx="22402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53512" y="3008376"/>
            <a:ext cx="2130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AR/AP invoices, vendors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2944368"/>
            <a:ext cx="21488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76672" y="3008376"/>
            <a:ext cx="2039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Finance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2944368"/>
            <a:ext cx="21031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62672" y="3008376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Disconnected from CRM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401568"/>
            <a:ext cx="224028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" y="3465576"/>
            <a:ext cx="2130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All systems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360" y="3401568"/>
            <a:ext cx="224028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53512" y="3465576"/>
            <a:ext cx="2130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Credentials stored in scripts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3401568"/>
            <a:ext cx="214884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3465576"/>
            <a:ext cx="2039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Engineering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0" y="3401568"/>
            <a:ext cx="210312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62672" y="3465576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Security risk, no rotation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858768"/>
            <a:ext cx="22402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" y="3922776"/>
            <a:ext cx="2130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All systems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80360" y="3858768"/>
            <a:ext cx="22402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53512" y="3922776"/>
            <a:ext cx="2130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Same customer = 3 records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03520" y="3858768"/>
            <a:ext cx="21488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76672" y="3922776"/>
            <a:ext cx="2039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Analytics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0" y="3858768"/>
            <a:ext cx="21031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62672" y="3922776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No single source of truth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572000"/>
            <a:ext cx="9235440" cy="4572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463600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uce Bold"/>
              </a:rPr>
              <a:t>Result: stale data  ·  no audit trail  ·  no single source of truth  ·  weeks to onboard any new data source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5193792"/>
            <a:ext cx="1051560" cy="5943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5230368"/>
            <a:ext cx="960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02020"/>
                </a:solidFill>
                <a:latin typeface="Open Sauce"/>
              </a:rPr>
              <a:t>24–72 hr delay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81912" y="5376672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83E48"/>
                </a:solidFill>
                <a:latin typeface="Open Sauce Bold"/>
              </a:rPr>
              <a:t>→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10512" y="5193792"/>
            <a:ext cx="91440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856232" y="5230368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96B24"/>
                </a:solidFill>
                <a:latin typeface="Open Sauce"/>
              </a:rPr>
              <a:t>1–4 hr automated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88920" y="5193792"/>
            <a:ext cx="1051560" cy="5943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34640" y="5230368"/>
            <a:ext cx="960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02020"/>
                </a:solidFill>
                <a:latin typeface="Open Sauce"/>
              </a:rPr>
              <a:t>3 disconnected 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67912" y="5376672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83E48"/>
                </a:solidFill>
                <a:latin typeface="Open Sauce Bold"/>
              </a:rPr>
              <a:t>→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096512" y="5193792"/>
            <a:ext cx="91440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42232" y="5230368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96B24"/>
                </a:solidFill>
                <a:latin typeface="Open Sauce"/>
              </a:rPr>
              <a:t>1 golden record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74920" y="5193792"/>
            <a:ext cx="1051560" cy="5943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120640" y="5230368"/>
            <a:ext cx="960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02020"/>
                </a:solidFill>
                <a:latin typeface="Open Sauce"/>
              </a:rPr>
              <a:t>No audit trail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53912" y="5376672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83E48"/>
                </a:solidFill>
                <a:latin typeface="Open Sauce Bold"/>
              </a:rPr>
              <a:t>→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82512" y="5193792"/>
            <a:ext cx="91440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28232" y="5230368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96B24"/>
                </a:solidFill>
                <a:latin typeface="Open Sauce"/>
              </a:rPr>
              <a:t>Full lineage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60920" y="5193792"/>
            <a:ext cx="1051560" cy="59436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06640" y="5230368"/>
            <a:ext cx="960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02020"/>
                </a:solidFill>
                <a:latin typeface="Open Sauce"/>
              </a:rPr>
              <a:t>Credentials in scripts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39912" y="5376672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83E48"/>
                </a:solidFill>
                <a:latin typeface="Open Sauce Bold"/>
              </a:rPr>
              <a:t>→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668512" y="5193792"/>
            <a:ext cx="91440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14232" y="5230368"/>
            <a:ext cx="822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96B24"/>
                </a:solidFill>
                <a:latin typeface="Open Sauce"/>
              </a:rPr>
              <a:t>AWS Secrets Manager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83E48"/>
                </a:solidFill>
                <a:latin typeface="Open Sauce Bold"/>
              </a:rPr>
              <a:t>What We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56082"/>
                </a:solidFill>
                <a:latin typeface="Open Sauce"/>
              </a:rPr>
              <a:t>A fully automated, metadata-driven data lake on AWS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2194560" cy="393192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01368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Open Sauce Bold"/>
              </a:rPr>
              <a:t>Multi-Source
Connectors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2624328"/>
            <a:ext cx="204825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965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Open Sauce"/>
              </a:rPr>
              <a:t>Salesforce  ·  MySQL RDS
Sage Intacct  ·  Sage X3
OAuth 2.0 / REST / JWT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664208"/>
            <a:ext cx="2194560" cy="393192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801368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Open Sauce Bold"/>
              </a:rPr>
              <a:t>4-Stage
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7792" y="2624328"/>
            <a:ext cx="204825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743200"/>
            <a:ext cx="1965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Open Sauce"/>
              </a:rPr>
              <a:t>Extract  →  Transform
→  Resolve  →  Publish
AWS Step Functions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66360" y="1664208"/>
            <a:ext cx="2194560" cy="3931920"/>
          </a:xfrm>
          <a:prstGeom prst="rect">
            <a:avLst/>
          </a:prstGeom>
          <a:solidFill>
            <a:srgbClr val="6A3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1801368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Open Sauce Bold"/>
              </a:rPr>
              <a:t>Entity
Resolution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39512" y="2624328"/>
            <a:ext cx="204825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2743200"/>
            <a:ext cx="1965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Open Sauce"/>
              </a:rPr>
              <a:t>One golden record per
customer across all
source systems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0" y="1664208"/>
            <a:ext cx="2194560" cy="39319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1801368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Open Sauce Bold"/>
              </a:rPr>
              <a:t>Governed
Analytics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71232" y="2624328"/>
            <a:ext cx="204825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2743200"/>
            <a:ext cx="1965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Open Sauce"/>
              </a:rPr>
              <a:t>SQL via Athena
PII masking  ·  Lineage
Quality report per run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943600"/>
            <a:ext cx="9235440" cy="621792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971032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Open Sauce Bold"/>
              </a:rPr>
              <a:t>4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81928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F"/>
                </a:solidFill>
                <a:latin typeface="Open Sauce"/>
              </a:rPr>
              <a:t>connected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5728" y="5971032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Open Sauce Bold"/>
              </a:rPr>
              <a:t>35,971+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5728" y="6281928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F"/>
                </a:solidFill>
                <a:latin typeface="Open Sauce"/>
              </a:rPr>
              <a:t>records 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42816" y="5971032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Open Sauce Bold"/>
              </a:rPr>
              <a:t>0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42816" y="6281928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F"/>
                </a:solidFill>
                <a:latin typeface="Open Sauce"/>
              </a:rPr>
              <a:t>to add a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9904" y="5971032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Open Sauce Bold"/>
              </a:rPr>
              <a:t>&lt; 4 hrs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9904" y="6281928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F"/>
                </a:solidFill>
                <a:latin typeface="Open Sauce"/>
              </a:rPr>
              <a:t>end-to-end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6992" y="5971032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Open Sauce Bold"/>
              </a:rPr>
              <a:t>~$469/mo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36992" y="6281928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FF"/>
                </a:solidFill>
                <a:latin typeface="Open Sauce"/>
              </a:rPr>
              <a:t>AWS cost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83E48"/>
                </a:solidFill>
                <a:latin typeface="Open Sauce Bold"/>
              </a:rP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56082"/>
                </a:solidFill>
                <a:latin typeface="Open Sauce"/>
              </a:rPr>
              <a:t>Event-driven  ·  Serverless  ·  Three governed data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9235440" cy="658368"/>
          </a:xfrm>
          <a:prstGeom prst="rect">
            <a:avLst/>
          </a:prstGeom>
          <a:solidFill>
            <a:srgbClr val="E3EEF8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728216"/>
            <a:ext cx="9070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56082"/>
                </a:solidFill>
                <a:latin typeface="Open Sauce Bold"/>
              </a:rPr>
              <a:t>SOURCE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002536"/>
            <a:ext cx="9070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Salesforce CRM  ·  MySQL RDS  ·  Sage Intacct  ·  Sage X3  ·  (NetSuite — roadmap)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77440"/>
            <a:ext cx="9235440" cy="658368"/>
          </a:xfrm>
          <a:prstGeom prst="rect">
            <a:avLst/>
          </a:prstGeom>
          <a:solidFill>
            <a:srgbClr val="F3ECFF"/>
          </a:solidFill>
          <a:ln w="19050">
            <a:solidFill>
              <a:srgbClr val="6A3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441448"/>
            <a:ext cx="9070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A3FC0"/>
                </a:solidFill>
                <a:latin typeface="Open Sauce Bold"/>
              </a:rPr>
              <a:t>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715768"/>
            <a:ext cx="9070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Amazon EventBridge Scheduler  →  AWS Step Functions  ·  DynamoDB (config, watermark, audit)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90672"/>
            <a:ext cx="2880360" cy="2331720"/>
          </a:xfrm>
          <a:prstGeom prst="rect">
            <a:avLst/>
          </a:prstGeom>
          <a:solidFill>
            <a:srgbClr val="E8F5E9"/>
          </a:solidFill>
          <a:ln w="19050">
            <a:solidFill>
              <a:srgbClr val="196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145536"/>
            <a:ext cx="2715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96B24"/>
                </a:solidFill>
                <a:latin typeface="Open Sauce Bold"/>
              </a:rPr>
              <a:t>RAW LAYER  (S3)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465576"/>
            <a:ext cx="271576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Immutable · Parquet
Object Lock
Schema snapshots
Drift 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3090672"/>
            <a:ext cx="2880360" cy="2331720"/>
          </a:xfrm>
          <a:prstGeom prst="rect">
            <a:avLst/>
          </a:prstGeom>
          <a:solidFill>
            <a:srgbClr val="EEEEFF"/>
          </a:solidFill>
          <a:ln w="19050">
            <a:solidFill>
              <a:srgbClr val="6A3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67328" y="3145536"/>
            <a:ext cx="2715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A3FC0"/>
                </a:solidFill>
                <a:latin typeface="Open Sauce Bold"/>
              </a:rPr>
              <a:t>CURATED LAYER  (S3)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3465576"/>
            <a:ext cx="271576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Field-mapped · Masked
SCD Type 1 merge
Canonical names
Glue-catalogued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3090672"/>
            <a:ext cx="2880360" cy="2331720"/>
          </a:xfrm>
          <a:prstGeom prst="rect">
            <a:avLst/>
          </a:prstGeom>
          <a:solidFill>
            <a:srgbClr val="FFF3E8"/>
          </a:solidFill>
          <a:ln w="1905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22008" y="3145536"/>
            <a:ext cx="2715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97132"/>
                </a:solidFill>
                <a:latin typeface="Open Sauce Bold"/>
              </a:rPr>
              <a:t>ANALYTICS LAYER  (S3 + Glue)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8" y="3465576"/>
            <a:ext cx="271576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Golden records
Athena-queryable
Partitioned by date
Lake Formation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950208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97132"/>
                </a:solidFill>
                <a:latin typeface="Open Sauce Bold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950208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97132"/>
                </a:solidFill>
                <a:latin typeface="Open Sauce Bold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504688"/>
            <a:ext cx="2011680" cy="5943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5541264"/>
            <a:ext cx="19019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Open Sauce Bold"/>
              </a:rPr>
              <a:t>Lambda 1
Extraction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0360" y="5504688"/>
            <a:ext cx="2011680" cy="594360"/>
          </a:xfrm>
          <a:prstGeom prst="rect">
            <a:avLst/>
          </a:prstGeom>
          <a:solidFill>
            <a:srgbClr val="6A3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53512" y="5541264"/>
            <a:ext cx="19019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Open Sauce Bold"/>
              </a:rPr>
              <a:t>Lambda 2
Transformation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7800" y="5504688"/>
            <a:ext cx="2011680" cy="59436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30952" y="5541264"/>
            <a:ext cx="19019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Open Sauce Bold"/>
              </a:rPr>
              <a:t>Lambda 3
Entity Resolution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35240" y="5504688"/>
            <a:ext cx="2011680" cy="5943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08392" y="5541264"/>
            <a:ext cx="19019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Open Sauce Bold"/>
              </a:rPr>
              <a:t>Lambda 4
Analytics Publisher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83E48"/>
                </a:solidFill>
                <a:latin typeface="Open Sauce Bold"/>
              </a:rPr>
              <a:t>Data Source Connectors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56082"/>
                </a:solidFill>
                <a:latin typeface="Open Sauce"/>
              </a:rPr>
              <a:t>Pluggable adapter pattern — add a new source without changing the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783080" cy="4663440"/>
          </a:xfrm>
          <a:prstGeom prst="rect">
            <a:avLst/>
          </a:prstGeom>
          <a:solidFill>
            <a:srgbClr val="15608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7393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39696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Open Sauce Bold"/>
              </a:rPr>
              <a:t>Salesforce CRM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24328"/>
            <a:ext cx="1645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Open Sauce"/>
              </a:rPr>
              <a:t>OAuth 2.0 client_credentials
Bulk API 2.0 (async CSV)
Entities: Account, Contact
Watermark: SystemModstamp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86584" y="1664208"/>
            <a:ext cx="1783080" cy="4663440"/>
          </a:xfrm>
          <a:prstGeom prst="rect">
            <a:avLst/>
          </a:prstGeom>
          <a:solidFill>
            <a:srgbClr val="196B2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78024" y="177393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78024" y="2139696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Open Sauce Bold"/>
              </a:rPr>
              <a:t>MySQL 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8024" y="2624328"/>
            <a:ext cx="1645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Open Sauce"/>
              </a:rPr>
              <a:t>AWS Secrets Manager creds
VPC + NAT Gateway
Entity: Contracts (incremental)
Watermark: ModifiedOn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1664208"/>
            <a:ext cx="1783080" cy="4663440"/>
          </a:xfrm>
          <a:prstGeom prst="rect">
            <a:avLst/>
          </a:prstGeom>
          <a:solidFill>
            <a:srgbClr val="6A3FC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177393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139696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Open Sauce Bold"/>
              </a:rPr>
              <a:t>Sage Intacct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2624328"/>
            <a:ext cx="1645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Open Sauce"/>
              </a:rPr>
              <a:t>REST API, OAuth 2.0
Entities: Customer, Vendor,
AR Invoice, AP Bill
Watermark: auditInfo.modifiedAt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1664208"/>
            <a:ext cx="1783080" cy="4663440"/>
          </a:xfrm>
          <a:prstGeom prst="rect">
            <a:avLst/>
          </a:prstGeom>
          <a:solidFill>
            <a:srgbClr val="E9713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177393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2139696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Open Sauce Bold"/>
              </a:rPr>
              <a:t>Sage X3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2624328"/>
            <a:ext cx="1645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Open Sauce"/>
              </a:rPr>
              <a:t>REST API, OAuth 2.0
Entities: Customer, Supplier
Same SageConnector adapter
Watermark incremental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7576" y="1664208"/>
            <a:ext cx="1783080" cy="4663440"/>
          </a:xfrm>
          <a:prstGeom prst="rect">
            <a:avLst/>
          </a:prstGeom>
          <a:solidFill>
            <a:srgbClr val="F8F8F8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9016" y="177393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66666"/>
                </a:solidFill>
                <a:latin typeface="Open Sauce"/>
              </a:rPr>
              <a:t>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2139696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3E48"/>
                </a:solidFill>
                <a:latin typeface="Open Sauce Bold"/>
              </a:rPr>
              <a:t>NetSuite ERP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9016" y="2624328"/>
            <a:ext cx="1645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Open Sauce"/>
              </a:rPr>
              <a:t>OAuth 1.0a token-based
Future — config only
No code change needed
Credentials pre-reserved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19088"/>
            <a:ext cx="9235440" cy="347472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8961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Open Sauce Bold"/>
              </a:rPr>
              <a:t>All connectors implement ExtractionConnector  ·  3 methods to register a new source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83E48"/>
                </a:solidFill>
                <a:latin typeface="Open Sauce Bold"/>
              </a:rPr>
              <a:t>Pipeline Stage 1 — Extraction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56082"/>
                </a:solidFill>
                <a:latin typeface="Open Sauce"/>
              </a:rPr>
              <a:t>Source systems  →  S3 Raw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74920" y="1664208"/>
            <a:ext cx="12700" cy="301752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4343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56082"/>
                </a:solidFill>
                <a:latin typeface="Open Sauce Bold"/>
              </a:rPr>
              <a:t>Processing Steps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Config from DynamoDB: entity_id, load_type, watermark_field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Credentials from Secrets Manager — never in code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Metadata discovery validates schema before querying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Query: full load  or  incremental (watermark window)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Records streamed one-at-a-time — no large memory use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Schema snapshot saved to S3 after each extraction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Drift detection: added / removed / type-changed 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664208"/>
            <a:ext cx="4343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E97132"/>
                </a:solidFill>
                <a:latin typeface="Open Sauce Bold"/>
              </a:rPr>
              <a:t>Reliability &amp; Security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Circuit breaker (DynamoDB-backed) — stops broken sources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Exponential backoff + jitter on transient errors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Dead-letter queue (SQS) for replay on failures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First-run incremental: epoch (1970) lower bound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S3 Object Lock on raw layer — immutable audit trail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IAM least-privilege scoped to exact S3 prefixes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Run audit log entry written to DynamoDB per 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846320"/>
            <a:ext cx="9235440" cy="5120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901184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56082"/>
                </a:solidFill>
                <a:latin typeface="Courier New"/>
              </a:rPr>
              <a:t>S3 path:  s3://dev-edl-raw-layer/raw/{source_id}/{entity_id}/extraction_date=YYYY-MM-DD/part-NNNNN.parquet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83E48"/>
                </a:solidFill>
                <a:latin typeface="Open Sauce Bold"/>
              </a:rPr>
              <a:t>Pipeline Stage 2 — Transformation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56082"/>
                </a:solidFill>
                <a:latin typeface="Open Sauce"/>
              </a:rPr>
              <a:t>Raw Layer  →  Curated Layer  (canonical, quality-checked, PII masked)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74920" y="1664208"/>
            <a:ext cx="12700" cy="32004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4343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56082"/>
                </a:solidFill>
                <a:latin typeface="Open Sauce Bold"/>
              </a:rPr>
              <a:t>Processing Steps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Reads Parquet from raw layer — streaming, no full load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Field mapping: source → canonical names (v1.json)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Transforms: CAST · CONCAT · DATE_FORMAT · DIRECT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Missing fields: raise_error / use_default / drop_field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Quality check: completeness, null rate, type conformance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PII masking applied before curated write — never skipped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SCD Type 1 merge: partition = full current state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Lineage record emitted for every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664208"/>
            <a:ext cx="4343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E97132"/>
                </a:solidFill>
                <a:latin typeface="Open Sauce Bold"/>
              </a:rPr>
              <a:t>Configuration (no code needed)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Mappings in S3 (curated bucket) — version-controlled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Path: config/field_mappings/{source}/{entity}/v1.json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No code change to add a new mapping — upload + run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primary_key_field → upsert merge; absent = append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soft_delete_field → tombstone (is_deleted flag kept)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Quality thresholds configurable per entity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Output: curated_date=YYYY-MM-DD/run_id=.../data.parquet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029200"/>
            <a:ext cx="9235440" cy="5120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084064"/>
            <a:ext cx="9052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56082"/>
                </a:solidFill>
                <a:latin typeface="Courier New"/>
              </a:rPr>
              <a:t>{ "source_fields":["AnnualRevenue"], "target_field":"annual_revenue", "transformation":"CAST","type":"decimal","missing_field_behavior":"use_default","default_value":"0"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83E48"/>
                </a:solidFill>
                <a:latin typeface="Open Sauce Bold"/>
              </a:rPr>
              <a:t>Pipeline Stage 3 — Entity Resolution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56082"/>
                </a:solidFill>
                <a:latin typeface="Open Sauce"/>
              </a:rPr>
              <a:t>Cross-source deduplication  →  one Golden Record per real-world 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2880360" cy="1874519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755648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Open Sauce Bold"/>
              </a:rPr>
              <a:t>Salesforce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167128"/>
            <a:ext cx="2697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DEEFF"/>
                </a:solidFill>
                <a:latin typeface="Open Sauce"/>
              </a:rPr>
              <a:t>account_id
account_name
billing_country
is_active · annual_revenue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1664208"/>
            <a:ext cx="2880360" cy="187451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8" y="1755648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Open Sauce Bold"/>
              </a:rPr>
              <a:t>Sage Intacct 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8" y="2167128"/>
            <a:ext cx="2697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DEEFF"/>
                </a:solidFill>
                <a:latin typeface="Open Sauce"/>
              </a:rPr>
              <a:t>customer_id
company_name
credit_limit
outstanding_balance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1664208"/>
            <a:ext cx="2880360" cy="1874519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0568" y="1755648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Open Sauce Bold"/>
              </a:rPr>
              <a:t>Sage X3 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2167128"/>
            <a:ext cx="2697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DEEFF"/>
                </a:solidFill>
                <a:latin typeface="Open Sauce"/>
              </a:rPr>
              <a:t>customer_code
customer_name
country_code
account_manager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60273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97132"/>
                </a:solidFill>
                <a:latin typeface="Open Sauce Bold"/>
              </a:rPr>
              <a:t>⬇  MATCH &amp; MERGE  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059936"/>
            <a:ext cx="9235440" cy="1325880"/>
          </a:xfrm>
          <a:prstGeom prst="rect">
            <a:avLst/>
          </a:prstGeom>
          <a:solidFill>
            <a:srgbClr val="FFF8F0"/>
          </a:solidFill>
          <a:ln w="1905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13308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7132"/>
                </a:solidFill>
                <a:latin typeface="Open Sauce Bold"/>
              </a:rPr>
              <a:t>🏆  GOLDEN RECORD  —  company 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98848"/>
            <a:ext cx="8961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entity_id  ·  account_name  ·  annual_revenue (Salesforce preferred)  ·  credit_limit (Sage preferred)  ·  outstanding_balance  ·  is_active
Survivorship policy: configurable field-level source preference per entity 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458968"/>
            <a:ext cx="9235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22222"/>
                </a:solidFill>
                <a:latin typeface="Open Sauce"/>
              </a:rPr>
              <a:t>•  Blocking + fuzzy name matching — configurable per entity type</a:t>
            </a:r>
          </a:p>
          <a:p>
            <a:pPr algn="l"/>
            <a:r>
              <a:rPr sz="1200">
                <a:solidFill>
                  <a:srgbClr val="222222"/>
                </a:solidFill>
                <a:latin typeface="Open Sauce"/>
              </a:rPr>
              <a:t>•  Survivorship: preferred source per field (Salesforce → is_active; Sage → credit_limit)</a:t>
            </a:r>
          </a:p>
          <a:p>
            <a:pPr algn="l"/>
            <a:r>
              <a:rPr sz="1200">
                <a:solidFill>
                  <a:srgbClr val="222222"/>
                </a:solidFill>
                <a:latin typeface="Open Sauce"/>
              </a:rPr>
              <a:t>•  Entity types: company  ·  person  ·  contract  —  extensible via config</a:t>
            </a:r>
          </a:p>
          <a:p>
            <a:pPr algn="l"/>
            <a:r>
              <a:rPr sz="1200">
                <a:solidFill>
                  <a:srgbClr val="222222"/>
                </a:solidFill>
                <a:latin typeface="Open Sauce"/>
              </a:rPr>
              <a:t>•  Output → s3://dev-edl-analytics-layer/canonical/{entity_type}/golden_date={date}/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83E48"/>
                </a:solidFill>
                <a:latin typeface="Open Sauce Bold"/>
              </a:rPr>
              <a:t>Pipeline Stage 4 — Analytics Publisher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56082"/>
                </a:solidFill>
                <a:latin typeface="Open Sauce"/>
              </a:rPr>
              <a:t>Golden Records  →  Athena-queryable partitioned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4343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56082"/>
                </a:solidFill>
                <a:latin typeface="Open Sauce Bold"/>
              </a:rPr>
              <a:t>What it does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Reads golden records from analytics layer (canonical/ prefix)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Writes partitioned Parquet: analytics_date=YYYY-MM-DD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Registers AWS Glue Data Catalog table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Adds Hive partition for the run's analytics_date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Grants Lake Formation table permissions to users</a:t>
            </a:r>
          </a:p>
          <a:p>
            <a:pPr algn="l"/>
            <a:r>
              <a:rPr sz="1300">
                <a:solidFill>
                  <a:srgbClr val="222222"/>
                </a:solidFill>
                <a:latin typeface="Open Sauce"/>
              </a:rPr>
              <a:t>•  CloudWatch metrics: record count, latency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6360" y="1664208"/>
            <a:ext cx="4434840" cy="438912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755648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56082"/>
                </a:solidFill>
                <a:latin typeface="Open Sauce Bold"/>
              </a:rPr>
              <a:t>Query in Amazon Athena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167128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ourier New"/>
              </a:rPr>
              <a:t>-- All companies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368296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ourier New"/>
              </a:rPr>
              <a:t>SELECT * FROM dev_edl_analytics.company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569464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ourier New"/>
              </a:rPr>
              <a:t>  WHERE analytics_date='2026-07-02';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770632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ourier New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971800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ourier New"/>
              </a:rPr>
              <a:t>-- Active contracts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172968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ourier New"/>
              </a:rPr>
              <a:t>SELECT COUNT(*) FROM dev_edl_analytics.contract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374136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ourier New"/>
              </a:rPr>
              <a:t>  WHERE analytics_date='2026-07-02'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575304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ourier New"/>
              </a:rPr>
              <a:t>  AND is_deleted = false;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776472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ourier New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977640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ourier New"/>
              </a:rPr>
              <a:t>-- Cross-entity join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178808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ourier New"/>
              </a:rPr>
              <a:t>SELECT c.account_name, COUNT(k.contract_id)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379976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ourier New"/>
              </a:rPr>
              <a:t>FROM dev_edl_analytics.company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581144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ourier New"/>
              </a:rPr>
              <a:t>JOIN dev_edl_analytics.contract 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782312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ourier New"/>
              </a:rPr>
              <a:t>  ON c.account_id = k.tenant_id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983480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ourier New"/>
              </a:rPr>
              <a:t>GROUP BY c.account_name;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236208"/>
            <a:ext cx="9235440" cy="42062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30021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uce Bold"/>
              </a:rPr>
              <a:t>Live today (dev):  34 companies  ·  49 persons  ·  35,971 contracts  — queryable via Athena right now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83E48"/>
                </a:solidFill>
                <a:latin typeface="Open Sauce Bold"/>
              </a:rPr>
              <a:t>Data Governance &amp;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56082"/>
                </a:solidFill>
                <a:latin typeface="Open Sauce"/>
              </a:rPr>
              <a:t>Compliance built into the pipeline — not bolted on afterwards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2194560" cy="28346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7739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Open Sauce Bold"/>
              </a:rPr>
              <a:t>PII Masking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2194560"/>
            <a:ext cx="204825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322576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EEEEE"/>
                </a:solidFill>
                <a:latin typeface="Open Sauce"/>
              </a:rPr>
              <a:t>Applied at transformation — before curated write
Sensitive fields tokenised, never plain text
Policy version-controlled per entity
Non-optional — pipeline fails if policy missing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664208"/>
            <a:ext cx="2194560" cy="283464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17739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Open Sauce Bold"/>
              </a:rPr>
              <a:t>Data Lineage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7792" y="2194560"/>
            <a:ext cx="204825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2322576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EEEEE"/>
                </a:solidFill>
                <a:latin typeface="Open Sauce"/>
              </a:rPr>
              <a:t>Emitted for every run:
source → curated → golden record
Field count, run_id, entity_id, timestamp
Queryable via Athena or S3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66360" y="1664208"/>
            <a:ext cx="2194560" cy="2834640"/>
          </a:xfrm>
          <a:prstGeom prst="rect">
            <a:avLst/>
          </a:prstGeom>
          <a:solidFill>
            <a:srgbClr val="6A3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6088" y="17739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Open Sauce Bold"/>
              </a:rPr>
              <a:t>Data Classification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39512" y="2194560"/>
            <a:ext cx="204825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76088" y="2322576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EEEEE"/>
                </a:solidFill>
                <a:latin typeface="Open Sauce"/>
              </a:rPr>
              <a:t>Fields: PUBLIC / INTERNAL / CONFIDENTIAL / PII
Applied at source onboarding
Drives masking + retention rules
Registered in AWS Glue Catalog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0" y="1664208"/>
            <a:ext cx="2194560" cy="283464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8" y="17739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Open Sauce Bold"/>
              </a:rPr>
              <a:t>Retention Policy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71232" y="2194560"/>
            <a:ext cx="2048256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7808" y="2322576"/>
            <a:ext cx="2011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EEEEE"/>
                </a:solidFill>
                <a:latin typeface="Open Sauce"/>
              </a:rPr>
              <a:t>Configurable per classification tier
Raw: S3 Object Lock (immutable)
Curated/analytics: policy-enforced
Dev: 30-day; Prod: 365-day logs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663440"/>
            <a:ext cx="9235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383E48"/>
                </a:solidFill>
                <a:latin typeface="Open Sauce Bold"/>
              </a:rPr>
              <a:t>Security Controls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All credentials via AWS Secrets Manager — never in code or logs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IAM least-privilege: roles scoped to exact S3 prefixes and DynamoDB tables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Only designated Lambda role can write to each S3 layer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All event inputs validated with regex (OWASP A03 injection prevention)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No record field values ever logged — counts/IDs only (OWASP A09)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83E48"/>
                </a:solidFill>
                <a:latin typeface="Open Sauce Bold"/>
              </a:rPr>
              <a:t>Observability &amp; 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56082"/>
                </a:solidFill>
                <a:latin typeface="Open Sauce"/>
              </a:rPr>
              <a:t>Every run is measurable, traceable, and self-healing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74920" y="1664208"/>
            <a:ext cx="12700" cy="438912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56082"/>
                </a:solidFill>
                <a:latin typeface="Open Sauce Bold"/>
              </a:rPr>
              <a:t>Monitoring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48256"/>
            <a:ext cx="201168" cy="5943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66544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56082"/>
                </a:solidFill>
                <a:latin typeface="Open Sauce Bold"/>
              </a:rPr>
              <a:t>Structured Logging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40864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JSON per stage: run_id, entity_id, counts — no raw field values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52928"/>
            <a:ext cx="201168" cy="5943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71216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56082"/>
                </a:solidFill>
                <a:latin typeface="Open Sauce Bold"/>
              </a:rPr>
              <a:t>CloudWatch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45536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Custom namespace: record_count, latency_ms, quality_score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57600"/>
            <a:ext cx="201168" cy="5943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675888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56082"/>
                </a:solidFill>
                <a:latin typeface="Open Sauce Bold"/>
              </a:rPr>
              <a:t>Run Audit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50208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Immutable DynamoDB record: start/end time, count, outcome, error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462272"/>
            <a:ext cx="201168" cy="5943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480560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56082"/>
                </a:solidFill>
                <a:latin typeface="Open Sauce Bold"/>
              </a:rPr>
              <a:t>Schema Drift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54880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Drift report written to S3; CloudWatch alarm on breaking change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266944"/>
            <a:ext cx="201168" cy="59436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85232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56082"/>
                </a:solidFill>
                <a:latin typeface="Open Sauce Bold"/>
              </a:rPr>
              <a:t>Quality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59552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Completeness + null rate per field after every transformation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1664208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97132"/>
                </a:solidFill>
                <a:latin typeface="Open Sauce Bold"/>
              </a:rPr>
              <a:t>Reliability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7800" y="2048256"/>
            <a:ext cx="201168" cy="5943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32120" y="2066544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97132"/>
                </a:solidFill>
                <a:latin typeface="Open Sauce Bold"/>
              </a:rPr>
              <a:t>Step Functions Retries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2340864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Automatic retry with exponential backoff + jitter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7800" y="2852928"/>
            <a:ext cx="201168" cy="5943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32120" y="2871216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97132"/>
                </a:solidFill>
                <a:latin typeface="Open Sauce Bold"/>
              </a:rPr>
              <a:t>Dead-Letter Queue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3145536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Unrecoverable failures → SQS DLQ for human review and replay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57800" y="3657600"/>
            <a:ext cx="201168" cy="5943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32120" y="3675888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97132"/>
                </a:solidFill>
                <a:latin typeface="Open Sauce Bold"/>
              </a:rPr>
              <a:t>Circuit Breaker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3950208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DynamoDB-backed — stops hammering broken sources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57800" y="4462272"/>
            <a:ext cx="201168" cy="5943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32120" y="4480560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97132"/>
                </a:solidFill>
                <a:latin typeface="Open Sauce Bold"/>
              </a:rPr>
              <a:t>State Machine Guards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4754880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IsNull checks prevent 0-record extractions cascading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57800" y="5266944"/>
            <a:ext cx="201168" cy="59436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32120" y="5285232"/>
            <a:ext cx="4050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97132"/>
                </a:solidFill>
                <a:latin typeface="Open Sauce Bold"/>
              </a:rPr>
              <a:t>Idempotency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5559552"/>
            <a:ext cx="4050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Re-running same pipeline = identical output — safe to replay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83E48"/>
                </a:solidFill>
                <a:latin typeface="Open Sauce Bold"/>
              </a:rPr>
              <a:t>Infrastructure &amp; DevOps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56082"/>
                </a:solidFill>
                <a:latin typeface="Open Sauce"/>
              </a:rPr>
              <a:t>Terraform-managed  ·  Environment-parity  ·  One Lambda zip for all four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74920" y="1664208"/>
            <a:ext cx="12700" cy="438912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4343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56082"/>
                </a:solidFill>
                <a:latin typeface="Open Sauce Bold"/>
              </a:rPr>
              <a:t>Infrastructure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Terraform ≥ 1.8 — full infrastructure as code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Modules: iam · storage · networking · lambda · orchestration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Remote state: S3 + DynamoDB lock (single-writer safety)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3 environments: dev / staging / prod — same config, different tfvars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Env creation: init → iam → lambdas → orchestration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Single Lambda zip serves all 4 functions (different handlers)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Build: make lambda-package  →  Upload: make lambda-upload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664208"/>
            <a:ext cx="4343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E97132"/>
                </a:solidFill>
                <a:latin typeface="Open Sauce Bold"/>
              </a:rPr>
              <a:t>Developer Experience &amp; CI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Python 3.14, hatchling build system, pyproject.toml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Tests: pytest + moto (AWS mocks — no real AWS calls)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Lint: ruff  ·  Types: mypy  ·  Security: bandit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Dependency CVE scan: pip-audit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Coverage gate: 80% — enforced in CI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Local dry-run scripts — test connectivity, no S3 write</a:t>
            </a:r>
          </a:p>
          <a:p>
            <a:pPr algn="l"/>
            <a:r>
              <a:rPr sz="1250">
                <a:solidFill>
                  <a:srgbClr val="222222"/>
                </a:solidFill>
                <a:latin typeface="Open Sauce"/>
              </a:rPr>
              <a:t>•  CI: lint → type-check → test → security (one command)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83E48"/>
                </a:solidFill>
                <a:latin typeface="Open Sauce Bold"/>
              </a:rPr>
              <a:t>Live Data — Dev 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56082"/>
                </a:solidFill>
                <a:latin typeface="Open Sauce"/>
              </a:rPr>
              <a:t>Real business data flowing end-to-end  ·  as of July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447800" cy="178308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73936"/>
            <a:ext cx="144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Open Sauce Bold"/>
              </a:rPr>
              <a:t>35,971+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70048"/>
            <a:ext cx="1447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Open Sauce"/>
              </a:rPr>
              <a:t>Contracts
(MySQL RDS)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042160" y="1664208"/>
            <a:ext cx="1447800" cy="178308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2160" y="1773936"/>
            <a:ext cx="144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Open Sauce Bold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2160" y="2670048"/>
            <a:ext cx="1447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Open Sauce"/>
              </a:rPr>
              <a:t>Companies
(Salesforce)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81400" y="1664208"/>
            <a:ext cx="1447800" cy="178308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1400" y="1773936"/>
            <a:ext cx="144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Open Sauce Bold"/>
              </a:rPr>
              <a:t>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1400" y="2670048"/>
            <a:ext cx="1447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Open Sauce"/>
              </a:rPr>
              <a:t>Persons
(Salesforce)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664208"/>
            <a:ext cx="1447800" cy="1783080"/>
          </a:xfrm>
          <a:prstGeom prst="rect">
            <a:avLst/>
          </a:prstGeom>
          <a:solidFill>
            <a:srgbClr val="6A3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773936"/>
            <a:ext cx="144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Open Sauce 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670048"/>
            <a:ext cx="1447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Open Sauce"/>
              </a:rPr>
              <a:t>Sources
connected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59880" y="1664208"/>
            <a:ext cx="1447800" cy="178308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9880" y="1773936"/>
            <a:ext cx="144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Open Sauce Bold"/>
              </a:rPr>
              <a:t>&lt; 4 hrs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9880" y="2670048"/>
            <a:ext cx="1447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Open Sauce"/>
              </a:rPr>
              <a:t>End-to-end
latency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9120" y="1664208"/>
            <a:ext cx="1447800" cy="178308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9120" y="1773936"/>
            <a:ext cx="144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Open Sauce Bold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9120" y="2670048"/>
            <a:ext cx="1447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EEEEE"/>
                </a:solidFill>
                <a:latin typeface="Open Sauce"/>
              </a:rPr>
              <a:t>Mapping
failures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602736"/>
            <a:ext cx="2423160" cy="32918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65760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uce Bold"/>
              </a:rPr>
              <a:t>Entity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40" y="3602736"/>
            <a:ext cx="1600200" cy="32918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27248" y="365760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uce Bold"/>
              </a:rPr>
              <a:t>Load type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00600" y="3602736"/>
            <a:ext cx="1371600" cy="32918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64608" y="3657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uce Bold"/>
              </a:rPr>
              <a:t>Records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602736"/>
            <a:ext cx="2560320" cy="32918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36576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uce Bold"/>
              </a:rPr>
              <a:t>Athena table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06840" y="3602736"/>
            <a:ext cx="621792" cy="32918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70848" y="3657600"/>
            <a:ext cx="530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uce Bold"/>
              </a:rPr>
              <a:t>Status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931920"/>
            <a:ext cx="2423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3986784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Open Sauce"/>
              </a:rPr>
              <a:t>MySQL — Contracts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63240" y="3931920"/>
            <a:ext cx="1600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27248" y="3986784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Open Sauce"/>
              </a:rPr>
              <a:t>Incremental (SCD1)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00600" y="3931920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64608" y="398678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Open Sauce"/>
              </a:rPr>
              <a:t>35,971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931920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73368" y="39867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Open Sauce"/>
              </a:rPr>
              <a:t>dev_edl_analytics.contract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06840" y="3931920"/>
            <a:ext cx="62179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986784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96B24"/>
                </a:solidFill>
                <a:latin typeface="Open Sauce"/>
              </a:rPr>
              <a:t>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334256"/>
            <a:ext cx="24231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43891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Open Sauce"/>
              </a:rPr>
              <a:t>Salesforce Account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63240" y="4334256"/>
            <a:ext cx="160020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27248" y="43891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Open Sauce"/>
              </a:rPr>
              <a:t>Full load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00600" y="4334256"/>
            <a:ext cx="137160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64608" y="43891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Open Sauce"/>
              </a:rPr>
              <a:t>34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4334256"/>
            <a:ext cx="256032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73368" y="4389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Open Sauce"/>
              </a:rPr>
              <a:t>dev_edl_analytics.company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06840" y="4334256"/>
            <a:ext cx="621792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0848" y="4389120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96B24"/>
                </a:solidFill>
                <a:latin typeface="Open Sauce"/>
              </a:rPr>
              <a:t>✅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736592"/>
            <a:ext cx="2423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4791456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Open Sauce"/>
              </a:rPr>
              <a:t>Salesforce Contact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63240" y="4736592"/>
            <a:ext cx="1600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27248" y="4791456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Open Sauce"/>
              </a:rPr>
              <a:t>Incremental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00600" y="4736592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64608" y="479145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Open Sauce"/>
              </a:rPr>
              <a:t>49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09360" y="4736592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73368" y="479145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Open Sauce"/>
              </a:rPr>
              <a:t>dev_edl_analytics.person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06840" y="4736592"/>
            <a:ext cx="62179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70848" y="4791456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96B24"/>
                </a:solidFill>
                <a:latin typeface="Open Sauce"/>
              </a:rPr>
              <a:t>✅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5138928"/>
            <a:ext cx="242316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6928" y="5193792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Open Sauce"/>
              </a:rPr>
              <a:t>Sage Intacct Customer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63240" y="5138928"/>
            <a:ext cx="160020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27248" y="519379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Open Sauce"/>
              </a:rPr>
              <a:t>Incremental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00600" y="5138928"/>
            <a:ext cx="137160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64608" y="51937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Open Sauce"/>
              </a:rPr>
              <a:t>Live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09360" y="5138928"/>
            <a:ext cx="2560320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73368" y="51937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Open Sauce"/>
              </a:rPr>
              <a:t>dev_edl_analytics.company (merged)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006840" y="5138928"/>
            <a:ext cx="621792" cy="3840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70848" y="5193792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96B24"/>
                </a:solidFill>
                <a:latin typeface="Open Sauce"/>
              </a:rPr>
              <a:t>✅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" y="5541264"/>
            <a:ext cx="2423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66928" y="559612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Open Sauce"/>
              </a:rPr>
              <a:t>Sage Intacct Vendor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63240" y="5541264"/>
            <a:ext cx="1600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127248" y="5596128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Open Sauce"/>
              </a:rPr>
              <a:t>Incremental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800600" y="5541264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64608" y="55961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Open Sauce"/>
              </a:rPr>
              <a:t>Live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309360" y="5541264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73368" y="55961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Open Sauce"/>
              </a:rPr>
              <a:t>Curated layer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06840" y="5541264"/>
            <a:ext cx="62179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070848" y="5596128"/>
            <a:ext cx="530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96B24"/>
                </a:solidFill>
                <a:latin typeface="Open Sauce"/>
              </a:rPr>
              <a:t>✅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83E48"/>
                </a:solidFill>
                <a:latin typeface="Open Sauce Bold"/>
              </a:rPr>
              <a:t>Business Outcomes &amp; ROI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56082"/>
                </a:solidFill>
                <a:latin typeface="Open Sauce"/>
              </a:rPr>
              <a:t>Measurable improvements delivered — compared to before the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3017520" cy="365760"/>
          </a:xfrm>
          <a:prstGeom prst="rect">
            <a:avLst/>
          </a:prstGeom>
          <a:solidFill>
            <a:srgbClr val="383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uce Bold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664208"/>
            <a:ext cx="2788920" cy="3657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7373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uce Bold"/>
              </a:rPr>
              <a:t>Before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64208"/>
            <a:ext cx="3429000" cy="36576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uce Bold"/>
              </a:rPr>
              <a:t>After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029968"/>
            <a:ext cx="30175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93976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Time to data availability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2029968"/>
            <a:ext cx="27889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09397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24–72 hours (manual)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029968"/>
            <a:ext cx="3429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0939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1–4 hours (automated)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487168"/>
            <a:ext cx="301752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551176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Customer identity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2487168"/>
            <a:ext cx="278892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255117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3 disconnected views per system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487168"/>
            <a:ext cx="342900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5511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Single golden record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944368"/>
            <a:ext cx="30175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008376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PII in analytics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2944368"/>
            <a:ext cx="27889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80" y="300837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Uncontrolled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944368"/>
            <a:ext cx="3429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0083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Masked at pipeline level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401568"/>
            <a:ext cx="301752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465576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Audit trail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3401568"/>
            <a:ext cx="278892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80" y="346557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None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401568"/>
            <a:ext cx="342900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4655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Full lineage: source→golden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858768"/>
            <a:ext cx="30175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New source onboarding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20440" y="3858768"/>
            <a:ext cx="27889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11880" y="392277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2–4 weeks (code + deploy)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858768"/>
            <a:ext cx="3429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9227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2–3 days (config only)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315968"/>
            <a:ext cx="301752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4379976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Credential security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20440" y="4315968"/>
            <a:ext cx="278892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11880" y="437997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Scripts + shared .env files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4315968"/>
            <a:ext cx="342900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43799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AWS Secrets Manager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773168"/>
            <a:ext cx="30175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4837176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Compliance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20440" y="4773168"/>
            <a:ext cx="278892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11880" y="483717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Manual documentation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4773168"/>
            <a:ext cx="3429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48371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Automated lineage + retention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5230368"/>
            <a:ext cx="301752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5294376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Data quality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20440" y="5230368"/>
            <a:ext cx="278892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11880" y="529437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No monitoring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5230368"/>
            <a:ext cx="3429000" cy="4389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529437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22222"/>
                </a:solidFill>
                <a:latin typeface="Open Sauce"/>
              </a:rPr>
              <a:t>Report per entity per run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5779008"/>
            <a:ext cx="9235440" cy="7498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585216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56082"/>
                </a:solidFill>
                <a:latin typeface="Open Sauce Bold"/>
              </a:rPr>
              <a:t>AWS Infrastructure: ~$469/month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03320" y="585216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vs. Fivetran SaaS: $3,000–$5,000/month per source  |  Payback: &lt; 1 month  |  Plus 40–60 hrs/month avoided labour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6163056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7132"/>
                </a:solidFill>
                <a:latin typeface="Open Sauce Bold"/>
              </a:rPr>
              <a:t>10× cost saving vs. SaaS — with full ownership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83E48"/>
                </a:solidFill>
                <a:latin typeface="Open Sauce Bold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56082"/>
                </a:solidFill>
                <a:latin typeface="Open Sauce"/>
              </a:rPr>
              <a:t>Purpose-built on proven AWS-native services and open standards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1481328" cy="46634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55648"/>
            <a:ext cx="1335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uce Bold"/>
              </a:rPr>
              <a:t>Runtime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2176272"/>
            <a:ext cx="1335024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1335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Open Sauce"/>
              </a:rPr>
              <a:t>• Python 3.14  —  AWS Lambda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88920"/>
            <a:ext cx="1335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Open Sauce"/>
              </a:rPr>
              <a:t>• PyArrow  —  Parquet I/O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1335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Open Sauce"/>
              </a:rPr>
              <a:t>• Pydantic  —  config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94760"/>
            <a:ext cx="1335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Open Sauce"/>
              </a:rPr>
              <a:t>• boto3  —  AWS SDK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1664208"/>
            <a:ext cx="1481328" cy="466344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1755648"/>
            <a:ext cx="1335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uce Bold"/>
              </a:rPr>
              <a:t>Orchestration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30552" y="2176272"/>
            <a:ext cx="1335024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48840" y="2286000"/>
            <a:ext cx="1335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Open Sauce"/>
              </a:rPr>
              <a:t>• AWS Step Functions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2788920"/>
            <a:ext cx="1335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Open Sauce"/>
              </a:rPr>
              <a:t>• Amazon EventBridge Scheduler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3291840"/>
            <a:ext cx="1335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Open Sauce"/>
              </a:rPr>
              <a:t>• AWS Lambda (4 functions, 1 zip)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1880" y="1664208"/>
            <a:ext cx="1481328" cy="4663440"/>
          </a:xfrm>
          <a:prstGeom prst="rect">
            <a:avLst/>
          </a:prstGeom>
          <a:solidFill>
            <a:srgbClr val="6A3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1755648"/>
            <a:ext cx="1335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uce Bold"/>
              </a:rPr>
              <a:t>Storage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85032" y="2176272"/>
            <a:ext cx="1335024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2286000"/>
            <a:ext cx="1335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Open Sauce"/>
              </a:rPr>
              <a:t>• Amazon S3 (3 data layers)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2788920"/>
            <a:ext cx="1335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Open Sauce"/>
              </a:rPr>
              <a:t>• Amazon DynamoDB (3 tables)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3291840"/>
            <a:ext cx="1335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Open Sauce"/>
              </a:rPr>
              <a:t>• AWS Glue Data Catalog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66360" y="1664208"/>
            <a:ext cx="1481328" cy="4663440"/>
          </a:xfrm>
          <a:prstGeom prst="rect">
            <a:avLst/>
          </a:prstGeom>
          <a:solidFill>
            <a:srgbClr val="C05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1755648"/>
            <a:ext cx="1335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uce Bold"/>
              </a:rPr>
              <a:t>Analytics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39512" y="2176272"/>
            <a:ext cx="1335024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57800" y="2286000"/>
            <a:ext cx="1335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Open Sauce"/>
              </a:rPr>
              <a:t>• Amazon Athena (SQL queries)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2788920"/>
            <a:ext cx="1335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Open Sauce"/>
              </a:rPr>
              <a:t>• AWS Lake Formation (access)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3291840"/>
            <a:ext cx="1335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Open Sauce"/>
              </a:rPr>
              <a:t>• Apache Parquet (columnar)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1664208"/>
            <a:ext cx="1481328" cy="466344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1755648"/>
            <a:ext cx="1335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uce Bold"/>
              </a:rPr>
              <a:t>Security &amp; Ops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93992" y="2176272"/>
            <a:ext cx="1335024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2286000"/>
            <a:ext cx="1335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Open Sauce"/>
              </a:rPr>
              <a:t>• AWS Secrets Manager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788920"/>
            <a:ext cx="1335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Open Sauce"/>
              </a:rPr>
              <a:t>• AWS IAM (least-privilege)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3291840"/>
            <a:ext cx="1335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Open Sauce"/>
              </a:rPr>
              <a:t>• Amazon CloudWatch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3794760"/>
            <a:ext cx="1335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Open Sauce"/>
              </a:rPr>
              <a:t>• Amazon SQS (dead-letter)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20" y="1664208"/>
            <a:ext cx="1481328" cy="466344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1755648"/>
            <a:ext cx="13350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uce Bold"/>
              </a:rPr>
              <a:t>DevOps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48472" y="2176272"/>
            <a:ext cx="1335024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6760" y="2286000"/>
            <a:ext cx="1335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Open Sauce"/>
              </a:rPr>
              <a:t>• Terraform ≥ 1.8 (IaC)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2788920"/>
            <a:ext cx="1335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Open Sauce"/>
              </a:rPr>
              <a:t>• pytest + moto (testing)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3291840"/>
            <a:ext cx="1335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Open Sauce"/>
              </a:rPr>
              <a:t>• ruff + mypy + bandit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3794760"/>
            <a:ext cx="1335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EEEEE"/>
                </a:solidFill>
                <a:latin typeface="Open Sauce"/>
              </a:rPr>
              <a:t>• GitHub (source control)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83E48"/>
                </a:solidFill>
                <a:latin typeface="Open Sauce Bold"/>
              </a:rPr>
              <a:t>What's Next —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932688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56082"/>
                </a:solidFill>
                <a:latin typeface="Open Sauce"/>
              </a:rPr>
              <a:t>Dev is live  ·  Staging and Production are the immediate priorities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2148840" cy="384048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19072"/>
            <a:ext cx="2002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uce Bold"/>
              </a:rPr>
              <a:t>Now — Dev ✅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48256"/>
            <a:ext cx="2148840" cy="4389120"/>
          </a:xfrm>
          <a:prstGeom prst="rect">
            <a:avLst/>
          </a:prstGeom>
          <a:solidFill>
            <a:srgbClr val="F8F8F8"/>
          </a:solidFill>
          <a:ln w="12700">
            <a:solidFill>
              <a:srgbClr val="196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167128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▸  All 4 Lambda stages live &amp; tested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862072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▸  Salesforce, MySQL, Sage connected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557016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▸  35,971+ records in analytics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251960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▸  Athena queries operational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4946904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▸  SCD Type 1 incremental merge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641848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▸  Entity resolution: golden records live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1664208"/>
            <a:ext cx="2148840" cy="3840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1719072"/>
            <a:ext cx="2002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uce Bold"/>
              </a:rPr>
              <a:t>Next — Staging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8920" y="2048256"/>
            <a:ext cx="2148840" cy="4389120"/>
          </a:xfrm>
          <a:prstGeom prst="rect">
            <a:avLst/>
          </a:prstGeom>
          <a:solidFill>
            <a:srgbClr val="F8F8F8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98648" y="2167128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▸  Provision staging DynamoDB tables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2862072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▸  Terraform: iam → lambdas → orchestration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3557016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▸  Upload Lambda zip to staging bucket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8648" y="4251960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▸  Seed entity configs to staging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98648" y="4946904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▸  End-to-end smoke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8648" y="5641848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▸  Staging sign-off before prod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4920" y="1664208"/>
            <a:ext cx="2148840" cy="384048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6360" y="1719072"/>
            <a:ext cx="2002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uce Bold"/>
              </a:rPr>
              <a:t>Soon — Production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2048256"/>
            <a:ext cx="2148840" cy="4389120"/>
          </a:xfrm>
          <a:prstGeom prst="rect">
            <a:avLst/>
          </a:prstGeom>
          <a:solidFill>
            <a:srgbClr val="F8F8F8"/>
          </a:solidFill>
          <a:ln w="1270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84648" y="2167128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▸  Prod infrastructure provisioning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4648" y="2862072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▸  365-day log retention (in HCL already)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4648" y="3557016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▸  Credential rotation policy enabled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4648" y="4251960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▸  Monitoring dashboards + alerts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84648" y="4946904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▸  Business data quality sign-off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4648" y="5641848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▸  Go-live readiness checklist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60920" y="1664208"/>
            <a:ext cx="2148840" cy="384048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1719072"/>
            <a:ext cx="2002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uce Bold"/>
              </a:rPr>
              <a:t>Backlog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60920" y="2048256"/>
            <a:ext cx="2148840" cy="4389120"/>
          </a:xfrm>
          <a:prstGeom prst="rect">
            <a:avLst/>
          </a:prstGeom>
          <a:solidFill>
            <a:srgbClr val="F8F8F8"/>
          </a:solidFill>
          <a:ln w="1270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70648" y="2167128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▸  NetSuite ERP connector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0648" y="2862072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▸  Sage X3 entity resolution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70648" y="3557016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▸  Sage Intacct AR Invoice / AP Bill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70648" y="4251960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▸  Lambda timeout circuit breaker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0648" y="4946904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▸  value_map transform for booleans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0648" y="5641848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Open Sauce"/>
              </a:rPr>
              <a:t>▸  Serving store loader (write-back)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9224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Open Sauce"/>
              </a:rPr>
              <a:t>Enterprise Data Lake Platform  ·  July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adien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0"/>
            <a:ext cx="222199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383E48"/>
                </a:solidFill>
                <a:latin typeface="Open Sauce Bold"/>
              </a:rPr>
              <a:t>A Platform Built
for the Long Term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103120"/>
            <a:ext cx="9326880" cy="381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240280"/>
            <a:ext cx="292608" cy="42062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76856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286000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Open Sauce"/>
              </a:rPr>
              <a:t>Automated, end-to-end pipeline — running in the dev environment 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07208"/>
            <a:ext cx="292608" cy="42062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843784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852928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Open Sauce"/>
              </a:rPr>
              <a:t>Four connected sources — extensible to any REST or SQL source via config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374136"/>
            <a:ext cx="292608" cy="420624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410712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419856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Open Sauce"/>
              </a:rPr>
              <a:t>Entity resolution delivering one golden record per customer across all systems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941064"/>
            <a:ext cx="292608" cy="420624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7764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986784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Open Sauce"/>
              </a:rPr>
              <a:t>Governed by design: lineage, PII masking, classification, retention built 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07992"/>
            <a:ext cx="292608" cy="420624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544568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553712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Open Sauce"/>
              </a:rPr>
              <a:t>Queryable in standard SQL via Amazon Athena — no exports, no waiting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074920"/>
            <a:ext cx="292608" cy="420624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111496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5120640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Open Sauce"/>
              </a:rPr>
              <a:t>Infrastructure as code — reproducible across dev, staging, and production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641848"/>
            <a:ext cx="292608" cy="420624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678424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Open Sauce"/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5687568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Open Sauce"/>
              </a:rPr>
              <a:t>10× lower cost than SaaS alternatives — with full ownership and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Open Sauce"/>
              </a:rPr>
              <a:t>Enterprise Data Lake Platform  ·  Platform Engineering  · 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