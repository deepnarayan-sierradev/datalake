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943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83E48"/>
                </a:solidFill>
                <a:latin typeface="Open Sauce Bold"/>
              </a:rPr>
              <a:t>Example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6082"/>
                </a:solidFill>
                <a:latin typeface="Open Sauce"/>
              </a:rPr>
              <a:t>Built with the Generic PPTX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59152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Open Sauce"/>
              </a:rPr>
              <a:t>This file shows the JSON content format.
Swap with your own content — theme, fonts, and strip are automatic.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429000"/>
            <a:ext cx="2514600" cy="420624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4655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uce Bold"/>
              </a:rPr>
              <a:t>Status ✅  Active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3429000"/>
            <a:ext cx="2514600" cy="42062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34655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uce Bold"/>
              </a:rPr>
              <a:t>Version 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Your Organisation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Single-Column Bullet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Use 'items' at the top level for a simple one-column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92354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First bullet point — plain text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Second bullet point — with some detail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Third bullet point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Fourth bullet point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Fifth bullet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Example Presentation  · 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Two-Column Bullet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Use 'left' and 'right' keys to get two columns with headings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309067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56082"/>
                </a:solidFill>
                <a:latin typeface="Open Sauce Bold"/>
              </a:rPr>
              <a:t>Left Column Heading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Left item one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Left item two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Left item three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Left item four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Left item five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64208"/>
            <a:ext cx="434340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97132"/>
                </a:solidFill>
                <a:latin typeface="Open Sauce Bold"/>
              </a:rPr>
              <a:t>Right Column Heading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1.  Numbered item one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2.  Numbered item two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3.  Numbered item three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4.  Numbered item four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5.  Numbered item five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236208"/>
            <a:ext cx="9235440" cy="5120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291072"/>
            <a:ext cx="9006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6082"/>
                </a:solidFill>
                <a:latin typeface="Courier New"/>
              </a:rPr>
              <a:t>Optional monospace code block at the bottom — great for paths, commands, or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Example Presentation  · 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Card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N cards auto-sized to fill the content area — works for 2 to 6 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240280" cy="473659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Card 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359152"/>
            <a:ext cx="205740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Body text for card one.
Supports multi-line content.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664208"/>
            <a:ext cx="2240280" cy="473659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Card Two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5351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2359152"/>
            <a:ext cx="205740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Body text for card two.
Use any named colour or hex code.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664208"/>
            <a:ext cx="2240280" cy="4736592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Card Three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095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8" y="2359152"/>
            <a:ext cx="205740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Body text for card three.
Font size auto-adjusts with card count.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664208"/>
            <a:ext cx="2240280" cy="4736592"/>
          </a:xfrm>
          <a:prstGeom prst="rect">
            <a:avLst/>
          </a:prstGeom>
          <a:solidFill>
            <a:srgbClr val="F8F8F8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17556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83E48"/>
                </a:solidFill>
                <a:latin typeface="Open Sauce"/>
              </a:rPr>
              <a:t>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2249424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3E48"/>
                </a:solidFill>
                <a:latin typeface="Open Sauce Bold"/>
              </a:rPr>
              <a:t>Inactive Card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08392" y="2724912"/>
            <a:ext cx="2093976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2834640"/>
            <a:ext cx="2057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Open Sauce"/>
              </a:rPr>
              <a:t>Set active=false for a greyed-out future item.
show_icon=true adds the status icon.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19088"/>
            <a:ext cx="9235440" cy="34747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9006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Open Sauce Bold"/>
              </a:rPr>
              <a:t>Footer strip text — shown in a deep-blue bar at the bottom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Example Presentation  · 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Data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Columns with configurable header colours and widths (in inches)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743200" cy="365760"/>
          </a:xfrm>
          <a:prstGeom prst="rect">
            <a:avLst/>
          </a:prstGeom>
          <a:solidFill>
            <a:srgbClr val="38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Column 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664208"/>
            <a:ext cx="3200400" cy="3657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73736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Column 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664208"/>
            <a:ext cx="3291840" cy="36576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Column 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29968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9397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Row 1, Cell 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029968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09397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Row 1, Cell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029968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093976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Row 1, Cell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87168"/>
            <a:ext cx="27432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55117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Row 2, Cell 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487168"/>
            <a:ext cx="32004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255117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Row 2, Cell 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487168"/>
            <a:ext cx="329184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551176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Row 2, Cell 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44368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00837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Row 3, Cell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2944368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300837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Row 3, Cell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944368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008376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Row 3, Cell 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401568"/>
            <a:ext cx="27432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46557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Row 4, Cell 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3401568"/>
            <a:ext cx="32004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346557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Row 4, Cell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3401568"/>
            <a:ext cx="329184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465576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Row 4, Cell 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931920"/>
            <a:ext cx="9235440" cy="42062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005072"/>
            <a:ext cx="9006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uce Bold"/>
              </a:rPr>
              <a:t>Optional callout strip — use a plain string for a simple one-liner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Example Presentation  · 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Table with Multi-Part Callout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Use a 'parts' list inside callout for multiple styled 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3200400" cy="365760"/>
          </a:xfrm>
          <a:prstGeom prst="rect">
            <a:avLst/>
          </a:prstGeom>
          <a:solidFill>
            <a:srgbClr val="38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1664208"/>
            <a:ext cx="2743200" cy="3657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7373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Before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664208"/>
            <a:ext cx="3291840" cy="36576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29968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9397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Time to delivery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2029968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09397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3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029968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093976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2 hours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87168"/>
            <a:ext cx="32004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55117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Error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487168"/>
            <a:ext cx="27432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255117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12%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487168"/>
            <a:ext cx="329184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551176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0.3%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44368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00837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Manual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2944368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300837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14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944368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008376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0 steps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474720"/>
            <a:ext cx="923544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566160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082"/>
                </a:solidFill>
                <a:latin typeface="Open Sauce Bold"/>
              </a:rPr>
              <a:t>Key takeaway: 90% reduction in manual effort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895344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Error rate reduced by 97.5% since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224528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7132"/>
                </a:solidFill>
                <a:latin typeface="Open Sauce Bold"/>
              </a:rPr>
              <a:t>Full ROI achieved within the first month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663440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709160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  <a:latin typeface="Open Sauce"/>
              </a:rPr>
              <a:t>3 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81912" y="4846320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10512" y="4663440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56232" y="4709160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6B24"/>
                </a:solidFill>
                <a:latin typeface="Open Sauce"/>
              </a:rPr>
              <a:t>2 hours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4663440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0" y="4709160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  <a:latin typeface="Open Sauce"/>
              </a:rPr>
              <a:t>12% errors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67912" y="4846320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96512" y="4663440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42232" y="4709160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6B24"/>
                </a:solidFill>
                <a:latin typeface="Open Sauce"/>
              </a:rPr>
              <a:t>0.3%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4663440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4709160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  <a:latin typeface="Open Sauce"/>
              </a:rPr>
              <a:t>14 manual steps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3912" y="4846320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82512" y="4663440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28232" y="4709160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6B24"/>
                </a:solidFill>
                <a:latin typeface="Open Sauce"/>
              </a:rPr>
              <a:t>0 steps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60920" y="4663440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0" y="4709160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  <a:latin typeface="Open Sauce"/>
              </a:rPr>
              <a:t>No audit trail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9912" y="4846320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68512" y="4663440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14232" y="4709160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6B24"/>
                </a:solidFill>
                <a:latin typeface="Open Sauce"/>
              </a:rPr>
              <a:t>Full lineage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Example Presentation  · 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Metrics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Big-number boxes at the top, optional detail table below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217420" cy="178308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73936"/>
            <a:ext cx="22174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99.9%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70048"/>
            <a:ext cx="22174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Uptime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1780" y="1664208"/>
            <a:ext cx="2217420" cy="178308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1780" y="1773936"/>
            <a:ext cx="22174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1.2s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1780" y="2670048"/>
            <a:ext cx="22174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Avg response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664208"/>
            <a:ext cx="2217420" cy="178308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773936"/>
            <a:ext cx="22174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4,200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70048"/>
            <a:ext cx="22174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Daily requests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29500" y="1664208"/>
            <a:ext cx="2217420" cy="178308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9500" y="1773936"/>
            <a:ext cx="22174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0" y="2670048"/>
            <a:ext cx="22174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Critical bugs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02736"/>
            <a:ext cx="411480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65760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uce Bold"/>
              </a:rPr>
              <a:t>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3602736"/>
            <a:ext cx="256032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36576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uce Bold"/>
              </a:rPr>
              <a:t>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3602736"/>
            <a:ext cx="256032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36576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uce Bold"/>
              </a:rPr>
              <a:t>Last checked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931920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986784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API Gateway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393192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398678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393192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42048" y="398678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2026-07-03 08:00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334256"/>
            <a:ext cx="41148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389120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Database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4334256"/>
            <a:ext cx="256032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438912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4334256"/>
            <a:ext cx="256032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42048" y="438912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2026-07-03 08:00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736592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4791456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Message queue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4736592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1728" y="479145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4736592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42048" y="479145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2026-07-03 07:55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138928"/>
            <a:ext cx="41148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519379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Cache layer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5138928"/>
            <a:ext cx="256032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81728" y="519379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5138928"/>
            <a:ext cx="256032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42048" y="519379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2026-07-03 08:01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Example Presentation  · 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Flow / Entity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Source boxes → merge → single output box + optional bullets below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971800" cy="187451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556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uce Bold"/>
              </a:rPr>
              <a:t>Source System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176272"/>
            <a:ext cx="2788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Open Sauce"/>
              </a:rPr>
              <a:t>field_1
field_2
field_3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664208"/>
            <a:ext cx="2971800" cy="187451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17556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uce Bold"/>
              </a:rPr>
              <a:t>Source System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2176272"/>
            <a:ext cx="2788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Open Sauce"/>
              </a:rPr>
              <a:t>field_a
field_b
field_c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664208"/>
            <a:ext cx="2971800" cy="1874519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7556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uce Bold"/>
              </a:rPr>
              <a:t>Source System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2176272"/>
            <a:ext cx="2788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Open Sauce"/>
              </a:rPr>
              <a:t>field_x
field_y
field_z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7620" y="36027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97132"/>
                </a:solidFill>
                <a:latin typeface="Open Sauce Bold"/>
              </a:rPr>
              <a:t>⬇  DEDUPLICATE &amp; MERGE  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59936"/>
            <a:ext cx="9372600" cy="1325880"/>
          </a:xfrm>
          <a:prstGeom prst="rect">
            <a:avLst/>
          </a:prstGeom>
          <a:solidFill>
            <a:srgbClr val="FFF8F0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330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7132"/>
                </a:solidFill>
                <a:latin typeface="Open Sauce Bold"/>
              </a:rPr>
              <a:t>🏆  MASTER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98848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unified_id  ·  primary_field  ·  secondary_field  ·  source_preferred_value
Survivorship policy determines which source wins per 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58968"/>
            <a:ext cx="9372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Configurable matching rules per entity type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Survivorship policy: preferred source per field</a:t>
            </a:r>
          </a:p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Full lineage — every master record traces to source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Example Presentation  · 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Split Layout — Bullets + Code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Left: bullet list  ·  Right: syntax-highlighted code or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4343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6082"/>
                </a:solidFill>
                <a:latin typeface="Open Sauce Bold"/>
              </a:rPr>
              <a:t>Key Points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Describe your left-side content here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Lines starting with -- or # render as comments in the right panel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The right panel background colour is configurable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Useful for showing code alongside its explanation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Set footer_strip to add a coloured strip above the footer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60" y="1664208"/>
            <a:ext cx="4572000" cy="41148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75564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082"/>
                </a:solidFill>
                <a:latin typeface="Open Sauce Bold"/>
              </a:rPr>
              <a:t>Code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6712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urier New"/>
              </a:rPr>
              <a:t>-- Select all active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37286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SELECT id, name,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57860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FROM my_table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78434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WHERE status = 'active'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99008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  AND created_at &gt;= '2026-01-01'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19582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ORDER BY name;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40156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60730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urier New"/>
              </a:rPr>
              <a:t># Python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81304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import boto3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01878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client = boto3.client('s3')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2452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response = client.list_buckets()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9235440" cy="42062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9006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Open Sauce Bold"/>
              </a:rPr>
              <a:t>Optional footer strip — great for live stats or key callout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Example Presentation  · 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Features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Two-column bar + bold title + description per item (ideal for product features)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470916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082"/>
                </a:solidFill>
                <a:latin typeface="Open Sauce Bold"/>
              </a:rPr>
              <a:t>Category 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48256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66544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Feature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40864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Description of feature one — what it does and why it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52928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71216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Feature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45536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Description of feature two — key benefit highlighted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75888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Feature Three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50208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Description of feature three — concise and scannable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462272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Feature Four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Description of feature four — one or two sentences max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266944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Feature Five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59552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Description of feature five — last item in left column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166420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7132"/>
                </a:solidFill>
                <a:latin typeface="Open Sauce Bold"/>
              </a:rPr>
              <a:t>Category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048256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2066544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Feature Six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340864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Description of feature six — right column starts 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2852928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2871216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Feature Seven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145536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Description of feature seven — same layout as left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3657600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3675888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Feature Eight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950208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Description of feature eight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4462272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4480560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Feature Nine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754880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Description of feature nine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5266944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2120" y="5285232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Feature Ten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5559552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Description of feature ten — last item in right column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Example Presentation  · 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Swimlane /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N vertical lane columns — auto-sized to fill the content area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205990" cy="384048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205968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Lane One (Green)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48256"/>
            <a:ext cx="2205990" cy="4233672"/>
          </a:xfrm>
          <a:prstGeom prst="rect">
            <a:avLst/>
          </a:prstGeom>
          <a:solidFill>
            <a:srgbClr val="F8F8F8"/>
          </a:solidFill>
          <a:ln w="1270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167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529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5387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2245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9103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596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1790" y="1664208"/>
            <a:ext cx="220599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1719072"/>
            <a:ext cx="205968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Lane Two (Amber)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91790" y="2048256"/>
            <a:ext cx="2205990" cy="4233672"/>
          </a:xfrm>
          <a:prstGeom prst="rect">
            <a:avLst/>
          </a:prstGeom>
          <a:solidFill>
            <a:srgbClr val="F8F8F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1518" y="2167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518" y="28529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1518" y="35387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1518" y="42245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1518" y="49103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1518" y="5596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80660" y="1664208"/>
            <a:ext cx="2205990" cy="38404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72100" y="1719072"/>
            <a:ext cx="205968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Lane Three (Blue)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80660" y="2048256"/>
            <a:ext cx="2205990" cy="4233672"/>
          </a:xfrm>
          <a:prstGeom prst="rect">
            <a:avLst/>
          </a:prstGeom>
          <a:solidFill>
            <a:srgbClr val="F8F8F8"/>
          </a:solidFill>
          <a:ln w="127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0388" y="2167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0388" y="28529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0388" y="35387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0388" y="42245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0388" y="49103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0388" y="5596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69530" y="1664208"/>
            <a:ext cx="2205990" cy="384048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60970" y="1719072"/>
            <a:ext cx="205968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Lane Four (Orange)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69530" y="2048256"/>
            <a:ext cx="2205990" cy="4233672"/>
          </a:xfrm>
          <a:prstGeom prst="rect">
            <a:avLst/>
          </a:prstGeom>
          <a:solidFill>
            <a:srgbClr val="F8F8F8"/>
          </a:solidFill>
          <a:ln w="1270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9258" y="2167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9258" y="28529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9258" y="35387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9258" y="42245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9258" y="49103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9258" y="5596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Item 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Example Presentation  ·  July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383E48"/>
                </a:solidFill>
                <a:latin typeface="Open Sauce Bold"/>
              </a:rPr>
              <a:t>Summary
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103120"/>
            <a:ext cx="9326880" cy="381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292608" cy="42062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76856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86000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First achievement — described in one concise sentence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07208"/>
            <a:ext cx="292608" cy="42062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43784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52928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Second achievement — what was delivered and its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74136"/>
            <a:ext cx="292608" cy="420624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10712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419856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Third achievement — keep it action-oriented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41064"/>
            <a:ext cx="292608" cy="420624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7764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8678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Fourth achievement — quantify where possible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07992"/>
            <a:ext cx="292608" cy="42062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44568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553712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Fifth achievement — link to a business outcome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74920"/>
            <a:ext cx="292608" cy="42062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111496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5120640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Sixth achievement — forward-looking if appropriate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Your Organisation  ·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