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943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83E48"/>
                </a:solidFill>
                <a:latin typeface="Open Sauce Bold"/>
              </a:rPr>
              <a:t>Enterprise Data Lake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6082"/>
                </a:solidFill>
                <a:latin typeface="Open Sauce"/>
              </a:rPr>
              <a:t>Automated  ·  Metadata-Driven  ·  Multi-Tenant  ·  Cloud-Native  ·  Governed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59152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Open Sauce"/>
              </a:rPr>
              <a:t>A unified, multi-tenant platform connecting Salesforce CRM, MySQL RDS, Sage Intacct, Sage X3, and NetSuite ERP
into a single trusted, analytics-ready data foundation, with a governed path to BI tools — built on AWS.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429000"/>
            <a:ext cx="2697480" cy="475488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Open Sauce Bold"/>
              </a:rPr>
              <a:t>Dev  ✅  Live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29000"/>
            <a:ext cx="2697480" cy="47548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3474720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Open Sauce Bold"/>
              </a:rPr>
              <a:t>Staging  🔲  Not 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429000"/>
            <a:ext cx="2697480" cy="47548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474720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Open Sauce Bold"/>
              </a:rPr>
              <a:t>Production  🔲  Not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Platform Engineering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The Problem We Solved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Data lived in silos — disconnected, delayed, and insecure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240280" cy="3657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664208"/>
            <a:ext cx="2240280" cy="3657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737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What it held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664208"/>
            <a:ext cx="2148840" cy="3657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Who used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64208"/>
            <a:ext cx="2606040" cy="3657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Pain 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029968"/>
            <a:ext cx="2240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939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Salesforce CRM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029968"/>
            <a:ext cx="2240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0939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Accounts &amp; contacts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80" y="2029968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20939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Sales, 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029968"/>
            <a:ext cx="2606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0939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Manual exports; no audit trail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487168"/>
            <a:ext cx="224028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5511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MySQL 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487168"/>
            <a:ext cx="224028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5511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Contracts &amp; orders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83480" y="2487168"/>
            <a:ext cx="214884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25511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Operations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2487168"/>
            <a:ext cx="260604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25511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24–72 hr delay; brittle scripts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944368"/>
            <a:ext cx="2240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0083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Sage Intacct/X3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2944368"/>
            <a:ext cx="2240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0083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AR/AP invoices, vendors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2944368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30083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Finance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2944368"/>
            <a:ext cx="2606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30083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Disconnected from CRM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401568"/>
            <a:ext cx="224028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4655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NetSuite ERP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401568"/>
            <a:ext cx="224028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34655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Customers, transactions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83480" y="3401568"/>
            <a:ext cx="214884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74920" y="34655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Finance, Ops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0" y="3401568"/>
            <a:ext cx="260604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0" y="34655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Siloed from CRM &amp; Sage data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858768"/>
            <a:ext cx="2240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39227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All systems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3858768"/>
            <a:ext cx="2240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40" y="39227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Credentials stored in scripts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83480" y="3858768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39227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Engineering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0" y="3858768"/>
            <a:ext cx="2606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3760" y="39227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Security risk, no rotation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315968"/>
            <a:ext cx="224028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43799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All systems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0" y="4315968"/>
            <a:ext cx="224028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4640" y="43799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Same customer = multiple records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83480" y="4315968"/>
            <a:ext cx="214884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74920" y="43799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Analytics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0" y="4315968"/>
            <a:ext cx="260604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23760" y="43799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No single source of truth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4846320"/>
            <a:ext cx="9235440" cy="49377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4901184"/>
            <a:ext cx="9006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uce Bold"/>
              </a:rPr>
              <a:t>Result: stale data  ·  no audit trail  ·  no single source of truth  ·  weeks to onboard any new data source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5431536"/>
            <a:ext cx="1051560" cy="5943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477256"/>
            <a:ext cx="960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2020"/>
                </a:solidFill>
                <a:latin typeface="Open Sauce"/>
              </a:rPr>
              <a:t>24–72 hr delay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81912" y="561441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3E48"/>
                </a:solidFill>
                <a:latin typeface="Open Sauce Bold"/>
              </a:rPr>
              <a:t>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10512" y="5431536"/>
            <a:ext cx="9144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856232" y="5477256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6B24"/>
                </a:solidFill>
                <a:latin typeface="Open Sauce"/>
              </a:rPr>
              <a:t>1–4 hr automated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88920" y="5431536"/>
            <a:ext cx="1051560" cy="5943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34640" y="5477256"/>
            <a:ext cx="960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2020"/>
                </a:solidFill>
                <a:latin typeface="Open Sauce"/>
              </a:rPr>
              <a:t>Disconnected views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67912" y="561441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3E48"/>
                </a:solidFill>
                <a:latin typeface="Open Sauce Bold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96512" y="5431536"/>
            <a:ext cx="9144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42232" y="5477256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6B24"/>
                </a:solidFill>
                <a:latin typeface="Open Sauce"/>
              </a:rPr>
              <a:t>1 golden record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74920" y="5431536"/>
            <a:ext cx="1051560" cy="5943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20640" y="5477256"/>
            <a:ext cx="960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2020"/>
                </a:solidFill>
                <a:latin typeface="Open Sauce"/>
              </a:rPr>
              <a:t>No audit trail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53912" y="561441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3E48"/>
                </a:solidFill>
                <a:latin typeface="Open Sauce Bold"/>
              </a:rPr>
              <a:t>→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82512" y="5431536"/>
            <a:ext cx="9144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28232" y="5477256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6B24"/>
                </a:solidFill>
                <a:latin typeface="Open Sauce"/>
              </a:rPr>
              <a:t>Full lineage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60920" y="5431536"/>
            <a:ext cx="1051560" cy="5943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06640" y="5477256"/>
            <a:ext cx="960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2020"/>
                </a:solidFill>
                <a:latin typeface="Open Sauce"/>
              </a:rPr>
              <a:t>Credentials in scripts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39912" y="561441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3E48"/>
                </a:solidFill>
                <a:latin typeface="Open Sauce Bold"/>
              </a:rPr>
              <a:t>→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68512" y="5431536"/>
            <a:ext cx="9144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714232" y="5477256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6B24"/>
                </a:solidFill>
                <a:latin typeface="Open Sauce"/>
              </a:rPr>
              <a:t>AWS Secrets Manager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A fully automated, metadata-driven, multi-tenant data lake on AWS — now with a BI-ready serving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447800" cy="416966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73936"/>
            <a:ext cx="126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Multi-Source
Connectors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249424"/>
            <a:ext cx="130149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359152"/>
            <a:ext cx="1264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Salesforce  ·  MySQL RDS
Sage Intacct  ·  Sage X3  ·  NetSuite
2 live today, 3 code-complete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87880" y="1664208"/>
            <a:ext cx="1447800" cy="4169664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7608" y="1773936"/>
            <a:ext cx="126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5-Stage
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1032" y="2249424"/>
            <a:ext cx="130149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7608" y="2359152"/>
            <a:ext cx="1264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Extract  →  Transform
→  Resolve  →  Publish  →  Serve
AWS Step Functions, 16 documented stages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2840" y="1664208"/>
            <a:ext cx="1447800" cy="4169664"/>
          </a:xfrm>
          <a:prstGeom prst="rect">
            <a:avLst/>
          </a:prstGeom>
          <a:solidFill>
            <a:srgbClr val="6A3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2568" y="1773936"/>
            <a:ext cx="126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Entity
Resolution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5992" y="2249424"/>
            <a:ext cx="130149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2568" y="2359152"/>
            <a:ext cx="1264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One golden record per
customer — company &amp; person
live today, more types ready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1664208"/>
            <a:ext cx="1447800" cy="416966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7528" y="1773936"/>
            <a:ext cx="126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Governed
Analytics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0952" y="2249424"/>
            <a:ext cx="130149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67528" y="2359152"/>
            <a:ext cx="1264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SQL via Athena
PII masking  ·  Lineage
Quality report per run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42760" y="1664208"/>
            <a:ext cx="1447800" cy="4169664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2488" y="1773936"/>
            <a:ext cx="126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Multi-Tenant
SaaS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15912" y="2249424"/>
            <a:ext cx="130149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52488" y="2359152"/>
            <a:ext cx="1264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Every layer tenant-scoped
Self-service onboarding API
IAM-level isolation still open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27720" y="1664208"/>
            <a:ext cx="1447800" cy="41696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37448" y="1773936"/>
            <a:ext cx="126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Serving
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0872" y="2249424"/>
            <a:ext cx="130149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7448" y="2359152"/>
            <a:ext cx="1264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5 database engines
MySQL · Postgres · SQL Server / Azure · Redshift
Code-complete, $0 AWS cost today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888736"/>
            <a:ext cx="9235440" cy="53035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916168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Open Sauce Bold"/>
              </a:rPr>
              <a:t>2 of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199632"/>
            <a:ext cx="1773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Open Sauce"/>
              </a:rPr>
              <a:t>sources live today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5728" y="5916168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Open Sauce Bold"/>
              </a:rPr>
              <a:t>36,023+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6199632"/>
            <a:ext cx="1773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Open Sauce"/>
              </a:rPr>
              <a:t>MySQL records 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2816" y="5916168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Open Sauce Bold"/>
              </a:rPr>
              <a:t>16 stages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2816" y="6199632"/>
            <a:ext cx="1773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Open Sauce"/>
              </a:rPr>
              <a:t>documented pipeline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9904" y="5916168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Open Sauce Bold"/>
              </a:rPr>
              <a:t>1,600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9904" y="6199632"/>
            <a:ext cx="1773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Open Sauce"/>
              </a:rPr>
              <a:t>automated tests passing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36992" y="5916168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Open Sauce Bold"/>
              </a:rPr>
              <a:t>~$770–790/mo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6199632"/>
            <a:ext cx="1773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  <a:latin typeface="Open Sauce"/>
              </a:rPr>
              <a:t>AWS cost (projected)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Event-driven  ·  Serverless  ·  16 documented pipeline stages  ·  Tenant isolation maturing layer by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9235440" cy="658368"/>
          </a:xfrm>
          <a:prstGeom prst="rect">
            <a:avLst/>
          </a:prstGeom>
          <a:solidFill>
            <a:srgbClr val="E3EEF8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28216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082"/>
                </a:solidFill>
                <a:latin typeface="Open Sauce Bold"/>
              </a:rPr>
              <a:t>SOURCE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02536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Salesforce · MySQL RDS · Sage Intacct · Sage X3 · NetSuite ERP  (2 of 5 live)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9235440" cy="658368"/>
          </a:xfrm>
          <a:prstGeom prst="rect">
            <a:avLst/>
          </a:prstGeom>
          <a:solidFill>
            <a:srgbClr val="F3ECFF"/>
          </a:solidFill>
          <a:ln w="19050">
            <a:solidFill>
              <a:srgbClr val="6A3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441448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3FC0"/>
                </a:solidFill>
                <a:latin typeface="Open Sauce Bold"/>
              </a:rPr>
              <a:t>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715768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EventBridge Scheduler → Step Functions  ·  DynamoDB (config, watermark, audit, serving-store)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90672"/>
            <a:ext cx="2171700" cy="2331720"/>
          </a:xfrm>
          <a:prstGeom prst="rect">
            <a:avLst/>
          </a:prstGeom>
          <a:solidFill>
            <a:srgbClr val="E8F5E9"/>
          </a:solidFill>
          <a:ln w="1905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154680"/>
            <a:ext cx="19888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96B24"/>
                </a:solidFill>
                <a:latin typeface="Open Sauce Bold"/>
              </a:rPr>
              <a:t>RAW LAYER  (S3)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474720"/>
            <a:ext cx="19888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Immutable, append-only
Parquet + S3 Object Lock
Hive-partitioned by source/entity
Not yet tenant-prefixed (open gap)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57500" y="3090672"/>
            <a:ext cx="2171700" cy="2331720"/>
          </a:xfrm>
          <a:prstGeom prst="rect">
            <a:avLst/>
          </a:prstGeom>
          <a:solidFill>
            <a:srgbClr val="F3ECFF"/>
          </a:solidFill>
          <a:ln w="19050">
            <a:solidFill>
              <a:srgbClr val="6A3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7228" y="3154680"/>
            <a:ext cx="19888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3FC0"/>
                </a:solidFill>
                <a:latin typeface="Open Sauce Bold"/>
              </a:rPr>
              <a:t>CURATED LAYER  (S3)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7228" y="3474720"/>
            <a:ext cx="19888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Field-mapped (v1.json)
Quality-evaluated
PII masked (always-on) · SCD Type 1
Tenant-scoped write paths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3090672"/>
            <a:ext cx="2171700" cy="2331720"/>
          </a:xfrm>
          <a:prstGeom prst="rect">
            <a:avLst/>
          </a:prstGeom>
          <a:solidFill>
            <a:srgbClr val="FFF3E8"/>
          </a:solidFill>
          <a:ln w="190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8" y="3154680"/>
            <a:ext cx="19888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7132"/>
                </a:solidFill>
                <a:latin typeface="Open Sauce Bold"/>
              </a:rPr>
              <a:t>ANALYTICS LAYER  (S3 + Glue)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3474720"/>
            <a:ext cx="19888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Golden records
Athena-queryable, tenant-prefixed tables
Shared Glue databases — isolated by
naming convention today, not by access control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66660" y="3090672"/>
            <a:ext cx="2171700" cy="2331720"/>
          </a:xfrm>
          <a:prstGeom prst="rect">
            <a:avLst/>
          </a:prstGeom>
          <a:solidFill>
            <a:srgbClr val="FFF3D6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76388" y="3154680"/>
            <a:ext cx="19888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  <a:latin typeface="Open Sauce Bold"/>
              </a:rPr>
              <a:t>SERVING STORE  (RDS)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6388" y="3474720"/>
            <a:ext cx="19888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Golden records mirrored to a
relational DB for BI tools
MySQL · Postgres · SQL Server / Azure · Redshift
Code-complete, not yet deployed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1468" y="4055364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97132"/>
                </a:solidFill>
                <a:latin typeface="Open Sauce Bold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6048" y="4055364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97132"/>
                </a:solidFill>
                <a:latin typeface="Open Sauce Bold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0628" y="4055364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97132"/>
                </a:solidFill>
                <a:latin typeface="Open Sauce Bold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532120"/>
            <a:ext cx="1737360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5577840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pen Sauce Bold"/>
              </a:rPr>
              <a:t>Lambda 1
Extraction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5532120"/>
            <a:ext cx="1737360" cy="594360"/>
          </a:xfrm>
          <a:prstGeom prst="rect">
            <a:avLst/>
          </a:prstGeom>
          <a:solidFill>
            <a:srgbClr val="6A3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50592" y="5577840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pen Sauce Bold"/>
              </a:rPr>
              <a:t>Lambda 2
Transformation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5532120"/>
            <a:ext cx="1737360" cy="59436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25112" y="5577840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pen Sauce Bold"/>
              </a:rPr>
              <a:t>Lambda 3
Entity Resolution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5532120"/>
            <a:ext cx="1737360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9632" y="5577840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pen Sauce Bold"/>
              </a:rPr>
              <a:t>Lambda 4
Analytics Publisher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5532120"/>
            <a:ext cx="1737360" cy="5943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74152" y="5577840"/>
            <a:ext cx="16276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pen Sauce Bold"/>
              </a:rPr>
              <a:t>Lambda 5
Serving Store Load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Multi-Tenant Isolation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Every customer's data, kept apart — honestly scored layer by layer, not just claimed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74920" y="1664208"/>
            <a:ext cx="12700" cy="3090672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4343400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56082"/>
                </a:solidFill>
                <a:latin typeface="Open Sauce Bold"/>
              </a:rPr>
              <a:t>What's Genuinely Isolated Today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Watermark and entity-type-registry records are isolated at the DynamoDB key level, not just by convention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A missing or malformed tenant ID fails the request outright — never a silent shared-tenant fallback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Curated and analytics S3 write paths, and the control-plane API, are tenant-scoped in every code path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The default tenant ("demo") uses the exact same isolation path as any future customer — no special-casing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Serving-store BI access is isolated at the database-engine level: one database (MySQL) or schema (Postgres/SQL Server/Azure SQL/Redshift) per tenant, with its own read-only credential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64208"/>
            <a:ext cx="4343400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97132"/>
                </a:solidFill>
                <a:latin typeface="Open Sauce Bold"/>
              </a:rPr>
              <a:t>Honest Status — Not Yet Production-Grade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Raw-layer S3 objects and Secrets Manager credentials are not tenant-isolated at all yet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Glue/Athena analytics tables sit in two shared databases — isolated by table-naming convention only, no per-tenant databases or access filters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No IAM policy anywhere ties a principal to only its own tenant's data — the platform's single largest remaining security gap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Tenant provisioning has no admin-level authorization check yet — any authenticated caller can create a tenant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Full layer-by-layer isolation table and every open gap are tracked in the platform's roadmap doc — see the Known Gaps slide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907023"/>
            <a:ext cx="9235440" cy="5120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961887"/>
            <a:ext cx="9006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6082"/>
                </a:solidFill>
                <a:latin typeface="Courier New"/>
              </a:rPr>
              <a:t>Key-level isolated: watermark &amp; entity-type registries. Convention-isolated: curated/analytics S3, Glue tables. Engine-isolated: serving-store DBs/schemas. Not isolated: raw S3, Secrets Manager.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Self-Service Control Plane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From engineer-run scripts to a secured, self-service 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4343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56082"/>
                </a:solidFill>
                <a:latin typeface="Open Sauce Bold"/>
              </a:rPr>
              <a:t>What Changed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Before: onboarding a new customer meant an engineer manually running CLI scripts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Now: a REST API provisions a tenant, registers entities, and triggers pipeline runs — no engineer required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Secured behind Amazon Cognito with JWT authentication; every call is authenticated and tenant-scoped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Runs on the same serverless stack (Lambda + API Gateway) as the rest of the pipeline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Code-complete and test-covered; a real login/token round-trip against the deployed Cognito pool has not yet been exercised end-to-end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Open gap: no admin-only check on tenant creation yet — the next hardening step before opening this up broadly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60" y="1664208"/>
            <a:ext cx="4572000" cy="41148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75564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082"/>
                </a:solidFill>
                <a:latin typeface="Open Sauce Bold"/>
              </a:rPr>
              <a:t>Example: Onboard a New 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16712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POST /tenants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37286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Authorization: Bearer &lt;JWT&gt;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57860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{ "tenant_code": "acme", "display_name": "Acme Corp"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78434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99008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POST /tenants/acme/entities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19582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{ "source_id": "salesforce", "entity_id": "account"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40156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60730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POST /tenants/acme/pipeline-runs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81304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{ "source_id": "salesforce", "entity_id": "account"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01878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2452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urier New"/>
              </a:rPr>
              <a:t># Every call authenticated via Cognito/JWT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43026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urier New"/>
              </a:rPr>
              <a:t># tenant_code enforced on every downstream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63600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9235440" cy="47548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925312"/>
            <a:ext cx="9006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uce Bold"/>
              </a:rPr>
              <a:t>6 self-service API routes  ·  secured by Cognito/JWT  ·  code-complete, pending live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Data Source Connectors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Pluggable adapter pattern — 2 live today, 3 ready the moment credentials land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764792" cy="432511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5564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249424"/>
            <a:ext cx="1581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Salesforce CRM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2724912"/>
            <a:ext cx="161848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834640"/>
            <a:ext cx="1581912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Live — 34 accounts flowing
OAuth 2.0 client_credentials, Bulk API 2.0
Entities: Account, Contact
Opportunity &amp; Contract mapped, not seeded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4872" y="1664208"/>
            <a:ext cx="1764792" cy="4325112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6312" y="175564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249424"/>
            <a:ext cx="1581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MySQL 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78024" y="2724912"/>
            <a:ext cx="161848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2834640"/>
            <a:ext cx="1581912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Live — 36,023 contract rows
AWS Secrets Manager creds, VPC + NAT
Entity: Contracts (incremental)
ContractTerms mapped, not seeded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1664208"/>
            <a:ext cx="1764792" cy="4325112"/>
          </a:xfrm>
          <a:prstGeom prst="rect">
            <a:avLst/>
          </a:prstGeom>
          <a:solidFill>
            <a:srgbClr val="F8F8F8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8264" y="175564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83E48"/>
                </a:solidFill>
                <a:latin typeface="Open Sauce"/>
              </a:rPr>
              <a:t>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249424"/>
            <a:ext cx="1581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3E48"/>
                </a:solidFill>
                <a:latin typeface="Open Sauce Bold"/>
              </a:rPr>
              <a:t>Sage Intacct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9976" y="2724912"/>
            <a:ext cx="1618488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2834640"/>
            <a:ext cx="1581912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Open Sauce"/>
              </a:rPr>
              <a:t>Code-complete, awaiting credentials
REST API, OAuth 2.0
Entities: Customer, Vendor,
AR Invoice, AP Bill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1664208"/>
            <a:ext cx="1764792" cy="4325112"/>
          </a:xfrm>
          <a:prstGeom prst="rect">
            <a:avLst/>
          </a:prstGeom>
          <a:solidFill>
            <a:srgbClr val="F8F8F8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175564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83E48"/>
                </a:solidFill>
                <a:latin typeface="Open Sauce"/>
              </a:rPr>
              <a:t>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2249424"/>
            <a:ext cx="1581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3E48"/>
                </a:solidFill>
                <a:latin typeface="Open Sauce Bold"/>
              </a:rPr>
              <a:t>Sage X3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81928" y="2724912"/>
            <a:ext cx="1618488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2834640"/>
            <a:ext cx="1581912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Open Sauce"/>
              </a:rPr>
              <a:t>Code-complete, awaiting credentials
REST API, OAuth 2.0
Same SageConnector adapter
Entities: Customer, Supplier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0728" y="1664208"/>
            <a:ext cx="1764792" cy="4325112"/>
          </a:xfrm>
          <a:prstGeom prst="rect">
            <a:avLst/>
          </a:prstGeom>
          <a:solidFill>
            <a:srgbClr val="F8F8F8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2168" y="175564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83E48"/>
                </a:solidFill>
                <a:latin typeface="Open Sauce"/>
              </a:rPr>
              <a:t>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2249424"/>
            <a:ext cx="1581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3E48"/>
                </a:solidFill>
                <a:latin typeface="Open Sauce Bold"/>
              </a:rPr>
              <a:t>NetSuite ERP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2724912"/>
            <a:ext cx="1618488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0456" y="2834640"/>
            <a:ext cx="1581912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Open Sauce"/>
              </a:rPr>
              <a:t>Code-complete, awaiting credentials
OAuth 1.0a TBA (HMAC-SHA256)
SuiteQL, entity: Customer
Pagination-safe up to 100K rows/run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053328"/>
            <a:ext cx="9235440" cy="34747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108192"/>
            <a:ext cx="9006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Open Sauce Bold"/>
              </a:rPr>
              <a:t>All 5 connectors implement one ExtractionConnector interface — 3 methods to register a new 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Pipeline Stage 1 —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Source systems  →  S3 Raw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74920" y="1664208"/>
            <a:ext cx="12700" cy="3090672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4343400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56082"/>
                </a:solidFill>
                <a:latin typeface="Open Sauce Bold"/>
              </a:rPr>
              <a:t>Processing Steps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Config from DynamoDB: entity_id, load_type, watermark_field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Credentials from Secrets Manager — never in code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Metadata discovery validates schema before querying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Query: full load  or  incremental (watermark window)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MySQL streams via a server-side cursor with pooled connections — no full-table buffering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Schema snapshot saved to S3 after each extraction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Drift detection: added / removed / type-changed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64208"/>
            <a:ext cx="4343400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97132"/>
                </a:solidFill>
                <a:latin typeface="Open Sauce Bold"/>
              </a:rPr>
              <a:t>Reliability &amp; Security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Circuit breaker (DynamoDB-backed, tenant-scoped) — stops broken sources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Exponential backoff + jitter on transient errors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Dead-letter queue (SQS) — auto-processed with audit + SNS alert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First-run incremental: epoch (1970) lower bound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S3 Object Lock on raw layer — immutable audit trail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IAM least-privilege scoped to exact S3 prefixes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Run audit log entry written to DynamoDB per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907023"/>
            <a:ext cx="9235440" cy="5120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961887"/>
            <a:ext cx="9006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6082"/>
                </a:solidFill>
                <a:latin typeface="Courier New"/>
              </a:rPr>
              <a:t>S3 path:  s3://edl-raw-087972550871/{source}/{entity_id}/extraction_date=YYYY-MM-DD/run_id=.../data.parquet  (not yet tenant-prefixed)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Pipeline Stage 2 —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Raw Layer  →  Curated Layer  (canonical, quality-checked, PII masked)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74920" y="1664208"/>
            <a:ext cx="12700" cy="3090672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4343400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56082"/>
                </a:solidFill>
                <a:latin typeface="Open Sauce Bold"/>
              </a:rPr>
              <a:t>Processing Steps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Reads Parquet from raw layer — streaming, no full load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Field mapping: source → canonical names (v1.json)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Transforms: CAST · CONCAT · DATE_FORMAT · DIRECT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Missing field: raise_error / use_default / drop_field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Quality check: completeness, null rate, type conformance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PII masking applies to every source, mapped or not — never skippable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SCD Type 1 merge: partition = full current state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Lineage record emitted for every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64208"/>
            <a:ext cx="4343400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97132"/>
                </a:solidFill>
                <a:latin typeface="Open Sauce Bold"/>
              </a:rPr>
              <a:t>Configuration (no code needed)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Mappings stored in S3 (curated bucket) — version-controlled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Path: config/field_mappings/{source}/{entity}/v1.json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No code change to add a mapping — upload JSON + re-run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primary_key_field → upsert merge; absent = append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soft_delete_field → tombstone (is_deleted flag)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Quality thresholds configurable per entity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Output: curated_date=YYYY-MM-DD/run_id=.../data.parquet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907023"/>
            <a:ext cx="9235440" cy="5120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961887"/>
            <a:ext cx="9006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6082"/>
                </a:solidFill>
                <a:latin typeface="Courier New"/>
              </a:rPr>
              <a:t>{ "source_fields":["AnnualRevenue"], "target_field":"annual_revenue", "transformation":"CAST", "type":"decimal", "missing_field_behavior":"use_default", "default_value":"0"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Pipeline Stage 3 — Entity Resolution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Cross-source deduplication  →  one Golden Record per real-world 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171700" cy="187451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55648"/>
            <a:ext cx="19888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uce Bold"/>
              </a:rPr>
              <a:t>Salesforce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176272"/>
            <a:ext cx="19888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EFF"/>
                </a:solidFill>
                <a:latin typeface="Open Sauce"/>
              </a:rPr>
              <a:t>account_id
account_name
billing_country
is_active · annual_revenue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03220" y="1664208"/>
            <a:ext cx="2171700" cy="187451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2948" y="1755648"/>
            <a:ext cx="19888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uce Bold"/>
              </a:rPr>
              <a:t>Sage Intacct 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2948" y="2176272"/>
            <a:ext cx="19888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EFF"/>
                </a:solidFill>
                <a:latin typeface="Open Sauce"/>
              </a:rPr>
              <a:t>customer_id
company_name
credit_limit
outstanding_balance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664208"/>
            <a:ext cx="2171700" cy="1874519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3248" y="1755648"/>
            <a:ext cx="19888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uce Bold"/>
              </a:rPr>
              <a:t>Sage X3 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3248" y="2176272"/>
            <a:ext cx="19888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EFF"/>
                </a:solidFill>
                <a:latin typeface="Open Sauce"/>
              </a:rPr>
              <a:t>customer_code
customer_name
country_code
account_manager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03820" y="1664208"/>
            <a:ext cx="2171700" cy="1874519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3548" y="1755648"/>
            <a:ext cx="19888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uce Bold"/>
              </a:rPr>
              <a:t>NetSuite 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3548" y="2176272"/>
            <a:ext cx="19888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EFF"/>
                </a:solidFill>
                <a:latin typeface="Open Sauce"/>
              </a:rPr>
              <a:t>customer_id
company_name
email_address
full_name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7620" y="360273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97132"/>
                </a:solidFill>
                <a:latin typeface="Open Sauce Bold"/>
              </a:rPr>
              <a:t>⬇  MATCH &amp; MERGE  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59936"/>
            <a:ext cx="9372600" cy="1325880"/>
          </a:xfrm>
          <a:prstGeom prst="rect">
            <a:avLst/>
          </a:prstGeom>
          <a:solidFill>
            <a:srgbClr val="FFF8F0"/>
          </a:solidFill>
          <a:ln w="190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330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7132"/>
                </a:solidFill>
                <a:latin typeface="Open Sauce Bold"/>
              </a:rPr>
              <a:t>🏆  GOLDEN RECORD  —  company 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98848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entity_id  ·  account_name  ·  annual_revenue (Salesforce preferred)  ·  credit_limit (Sage preferred)  ·  outstanding_balance  ·  is_active
Survivorship strategies: source_priority · most_recent · longest · first_non_null (configurable per field)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58968"/>
            <a:ext cx="9372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22222"/>
                </a:solidFill>
                <a:latin typeface="Open Sauce"/>
              </a:rPr>
              <a:t>•  Blocking + fuzzy name matching, configurable per entity type</a:t>
            </a:r>
          </a:p>
          <a:p>
            <a:pPr algn="l"/>
            <a:r>
              <a:rPr sz="1200">
                <a:solidFill>
                  <a:srgbClr val="222222"/>
                </a:solidFill>
                <a:latin typeface="Open Sauce"/>
              </a:rPr>
              <a:t>•  Survivorship: preferred source per field — e.g. Salesforce → is_active, Sage → credit_limit</a:t>
            </a:r>
          </a:p>
          <a:p>
            <a:pPr algn="l"/>
            <a:r>
              <a:rPr sz="1200">
                <a:solidFill>
                  <a:srgbClr val="222222"/>
                </a:solidFill>
                <a:latin typeface="Open Sauce"/>
              </a:rPr>
              <a:t>•  Streams curated records via DuckDB — no in-memory full load</a:t>
            </a:r>
          </a:p>
          <a:p>
            <a:pPr algn="l"/>
            <a:r>
              <a:rPr sz="1200">
                <a:solidFill>
                  <a:srgbClr val="222222"/>
                </a:solidFill>
                <a:latin typeface="Open Sauce"/>
              </a:rPr>
              <a:t>•  9 entity types defined; only company &amp; person are live today (Salesforce only)</a:t>
            </a:r>
          </a:p>
          <a:p>
            <a:pPr algn="l"/>
            <a:r>
              <a:rPr sz="1200">
                <a:solidFill>
                  <a:srgbClr val="222222"/>
                </a:solidFill>
                <a:latin typeface="Open Sauce"/>
              </a:rPr>
              <a:t>•  Output → s3://edl-analytics-.../{tenant_code}/canonical/{entity_type}/golden_date={date}/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Pipeline Stage 4 — Analytics Publisher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Golden Records  →  Athena-queryable partitioned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4343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56082"/>
                </a:solidFill>
                <a:latin typeface="Open Sauce Bold"/>
              </a:rPr>
              <a:t>What it does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Reads golden records from analytics layer (canonical/ prefix)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Writes partitioned Parquet: analytics_date=YYYY-MM-DD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Registers Glue Data Catalog table (edl_analytics)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Adds Hive partition for the run's analytics_date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Grants Lake Formation permissions to analytics users — today a wildcard across all tenants, hardening tracked as an open gap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Emits an end-to-end pipeline SLA metric — extraction start to analytics-ready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60" y="1664208"/>
            <a:ext cx="4572000" cy="41148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75564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082"/>
                </a:solidFill>
                <a:latin typeface="Open Sauce Bold"/>
              </a:rPr>
              <a:t>Query in Amazon Athena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16712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urier New"/>
              </a:rPr>
              <a:t>-- All companies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37286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SELECT * FROM edl_analytics.company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57860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  WHERE analytics_date='2026-07-14';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78434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99008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urier New"/>
              </a:rPr>
              <a:t>-- Active contracts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19582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SELECT COUNT(*) FROM edl_analytics.contract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40156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  WHERE analytics_date='2026-07-14'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60730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  AND is_deleted = false;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81304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01878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urier New"/>
              </a:rPr>
              <a:t>-- Cross-entity join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2452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SELECT c.account_name, COUNT(k.contract_id)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43026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FROM edl_analytics.company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63600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JOIN edl_analytics.contract 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84174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  ON c.account_id = k.account_id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504748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>GROUP BY c.account_name;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5253228"/>
            <a:ext cx="4343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ourier New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870448"/>
            <a:ext cx="9235440" cy="47548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925312"/>
            <a:ext cx="9006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uce Bold"/>
              </a:rPr>
              <a:t>Live today (dev): 34 Salesforce accounts  ·  36,023 MySQL contract rows — queryable via Athena 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Pipeline Stage 5 — Serving Store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Golden records, mirrored into a relational database — built for direct Power BI / Tableau connections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764792" cy="298094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5564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249424"/>
            <a:ext cx="1581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MySQL 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2724912"/>
            <a:ext cx="161848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834640"/>
            <a:ext cx="1581912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Reference engine
Database-per-tenant isolation
AWS-managed master credential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4872" y="1664208"/>
            <a:ext cx="1764792" cy="2980944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6312" y="175564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249424"/>
            <a:ext cx="1581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PostgreSQL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78024" y="2724912"/>
            <a:ext cx="161848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2834640"/>
            <a:ext cx="1581912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Schema-per-tenant isolation
psycopg driver
ALTER DEFAULT PRIVILEGES covers future tables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1664208"/>
            <a:ext cx="1764792" cy="2980944"/>
          </a:xfrm>
          <a:prstGeom prst="rect">
            <a:avLst/>
          </a:prstGeom>
          <a:solidFill>
            <a:srgbClr val="6A3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8264" y="175564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249424"/>
            <a:ext cx="1581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SQL Server / Azure SQL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9976" y="2724912"/>
            <a:ext cx="161848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2834640"/>
            <a:ext cx="1581912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Schema-per-tenant isolation
pymssql driver — no native ODBC layer needed
MERGE-based upsert, 500-row batches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1664208"/>
            <a:ext cx="1764792" cy="298094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175564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2249424"/>
            <a:ext cx="1581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Amazon Redshift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81928" y="2724912"/>
            <a:ext cx="161848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2834640"/>
            <a:ext cx="1581912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Schema-per-tenant isolation
MPP warehouse — bulk S3 COPY → MERGE
IAM-auth writer (no stored password)
Built for BI at millions-of-rows scale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0728" y="1664208"/>
            <a:ext cx="1764792" cy="298094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2168" y="175564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2249424"/>
            <a:ext cx="1581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Hash-Diff
Incremental Sync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2724912"/>
            <a:ext cx="161848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0456" y="2834640"/>
            <a:ext cx="1581912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Every row gets a SHA-256 hash
Only changed rows are rewritten
First sync per tenant = automatic full backfill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709160"/>
            <a:ext cx="9235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83E48"/>
                </a:solidFill>
                <a:latin typeface="Open Sauce Bold"/>
              </a:rPr>
              <a:t>Status &amp; Isolation Model — Read This Before Demoing It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Code-complete and fully tested — lint, types, tests, and terraform validate all pass cleanly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Zero dollars spent today — no RDS instance, Lambda, or credential exists in AWS yet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Isolation is engine-enforced: one database or schema per tenant — not an app-level filter, since BI tools connect directly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Each tenant gets its own read-only reader credential, separate from the writer credential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Open gap: no network path yet for BI tools to reach the database — needs a Client VPN, new infrastructure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Data Governance &amp;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Compliance built into the pipeline — with real, tracked gaps on the path to full tenant isolation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240280" cy="298094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73936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Open Sauce Bold"/>
              </a:rPr>
              <a:t>PII Masking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249424"/>
            <a:ext cx="209397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359152"/>
            <a:ext cx="2057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Open Sauce"/>
              </a:rPr>
              <a:t>Applied at transformation — before curated write
Covers every source, mapped or not
Policy version-controlled per entity
Non-optional — pipeline fails if policy missing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664208"/>
            <a:ext cx="2240280" cy="2980944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73936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Open Sauce Bold"/>
              </a:rPr>
              <a:t>Data Lineage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53512" y="2249424"/>
            <a:ext cx="209397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2359152"/>
            <a:ext cx="2057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Open Sauce"/>
              </a:rPr>
              <a:t>Emitted for every run:
source → curated → golden record
Field count, run_id, entity_id, timestamp
Queryable via Athena or S3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664208"/>
            <a:ext cx="2240280" cy="2980944"/>
          </a:xfrm>
          <a:prstGeom prst="rect">
            <a:avLst/>
          </a:prstGeom>
          <a:solidFill>
            <a:srgbClr val="6A3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1773936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Open Sauce Bold"/>
              </a:rPr>
              <a:t>Data Classification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0952" y="2249424"/>
            <a:ext cx="209397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7528" y="2359152"/>
            <a:ext cx="2057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Open Sauce"/>
              </a:rPr>
              <a:t>Fields: PUBLIC / INTERNAL / CONFIDENTIAL / PII
Applied at source onboarding
Drives masking + retention rules
Registered in AWS Glue Catalog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1664208"/>
            <a:ext cx="2240280" cy="298094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4968" y="1773936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Open Sauce Bold"/>
              </a:rPr>
              <a:t>Retention Policy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08392" y="2249424"/>
            <a:ext cx="209397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44968" y="2359152"/>
            <a:ext cx="2057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Open Sauce"/>
              </a:rPr>
              <a:t>Configurable per classification tier
Raw: S3 Object Lock (immutable)
Curated/analytics: policy-enforced
Dev: 30-day; Prod: 365-day 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09160"/>
            <a:ext cx="9235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83E48"/>
                </a:solidFill>
                <a:latin typeface="Open Sauce Bold"/>
              </a:rPr>
              <a:t>Security Controls — and Their Honest Limits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All credentials via AWS Secrets Manager — never in code or logs (shared per connector type, not per-tenant yet)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IAM least-privilege scoped to exact S3/DynamoDB paths — no policy yet enforces tenant-only access (largest open gap)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Missing or malformed tenant IDs fail the request — never a silent shared-tenant default (OWASP A01)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All event inputs validated with regex (OWASP A03 injection prevention)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No record field values ever logged — counts/IDs only (OWASP A09)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No external security or compliance audit (SOC 2, GDPR, HIPAA) has been performed against this platform yet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Observability &amp;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Every run is measurable, traceable, and self-healing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74920" y="1664208"/>
            <a:ext cx="12700" cy="470916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6082"/>
                </a:solidFill>
                <a:latin typeface="Open Sauce Bold"/>
              </a:rPr>
              <a:t>Monitoring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48256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66544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082"/>
                </a:solidFill>
                <a:latin typeface="Open Sauce Bold"/>
              </a:rPr>
              <a:t>Structured Logging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40864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JSON per stage: run_id, entity_id, counts — no raw field values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52928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71216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082"/>
                </a:solidFill>
                <a:latin typeface="Open Sauce Bold"/>
              </a:rPr>
              <a:t>CloudWatch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45536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Custom namespace: record_count, latency_ms, quality_score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57600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75888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082"/>
                </a:solidFill>
                <a:latin typeface="Open Sauce Bold"/>
              </a:rPr>
              <a:t>Run Audit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50208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Immutable DynamoDB record, tenant-scoped: start/end time, count, outcome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462272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80560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082"/>
                </a:solidFill>
                <a:latin typeface="Open Sauce Bold"/>
              </a:rPr>
              <a:t>Schema Drift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54880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Drift report to S3; CloudWatch alarm on breaking change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266944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85232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6082"/>
                </a:solidFill>
                <a:latin typeface="Open Sauce Bold"/>
              </a:rPr>
              <a:t>Credential Rotation Watchdog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59552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Daily check across all connected source secrets; alerts via SNS if overdue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166420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7132"/>
                </a:solidFill>
                <a:latin typeface="Open Sauce Bold"/>
              </a:rPr>
              <a:t>Reliability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2048256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2066544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7132"/>
                </a:solidFill>
                <a:latin typeface="Open Sauce Bold"/>
              </a:rPr>
              <a:t>Step Functions Retries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2340864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Automatic retry with exponential backoff + jitter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2852928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2871216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7132"/>
                </a:solidFill>
                <a:latin typeface="Open Sauce Bold"/>
              </a:rPr>
              <a:t>Dead-Letter Queue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3145536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Auto-processed: audit record + SNS alert, optional auto-replay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57800" y="3657600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3675888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7132"/>
                </a:solidFill>
                <a:latin typeface="Open Sauce Bold"/>
              </a:rPr>
              <a:t>Circuit Breaker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3950208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DynamoDB-backed, tenant-scoped — stops hammering broken sources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7800" y="4462272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4480560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7132"/>
                </a:solidFill>
                <a:latin typeface="Open Sauce Bold"/>
              </a:rPr>
              <a:t>State Machine Guards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4754880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IsNull checks prevent 0-record extractions cascading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57800" y="5266944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32120" y="5285232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97132"/>
                </a:solidFill>
                <a:latin typeface="Open Sauce Bold"/>
              </a:rPr>
              <a:t>Idempotency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5559552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Re-running same pipeline = identical output — safe to replay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Infrastructure &amp; DevOps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Terraform-managed  ·  Environment-parity  ·  One Lambda zip for all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74920" y="1664208"/>
            <a:ext cx="12700" cy="470916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43434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56082"/>
                </a:solidFill>
                <a:latin typeface="Open Sauce Bold"/>
              </a:rPr>
              <a:t>Infrastructure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Terraform ≥ 1.8 — full infrastructure as code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Modules: iam · storage · networking · lambda · orchestration · control plane · serving-store database &amp; lambda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Remote state: S3 + DynamoDB lock (single-writer safety)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Dev: applied &amp; live  ·  Staging/Prod: terraform validates cleanly, not yet provisioned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New env: init → apply iam → apply lambdas → apply orchestration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One Lambda zip serves all 8 functions (different handlers)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Build: make lambda-package  →  Upload: make lambda-upload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64208"/>
            <a:ext cx="43434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97132"/>
                </a:solidFill>
                <a:latin typeface="Open Sauce Bold"/>
              </a:rPr>
              <a:t>Developer Experience &amp; CI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Python 3.14, hatchling build system, pyproject.toml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Tests: pytest + moto (AWS mocks) — 1,600 passing, 1 deliberate skip, 80% coverage gate enforced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Lint: ruff — zero violations repo-wide  ·  Security: bandit + detect-secrets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Types: mypy (scoped) — 72 known pre-existing errors tracked as separate debt, not blocking merges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Banned generic identifiers (helper/util/manager/common) blocked in CI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Local dry-run scripts — test connectivity, no S3 write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CI: lint → banned-names → type-check → test → security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Live Data — Dev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Real business data flowing end-to-end  ·  as of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447800" cy="178308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73936"/>
            <a:ext cx="144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Open Sauce Bold"/>
              </a:rPr>
              <a:t>36,023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70048"/>
            <a:ext cx="144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Open Sauce"/>
              </a:rPr>
              <a:t>Contract rows
(MySQL RDS)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042160" y="1664208"/>
            <a:ext cx="1447800" cy="178308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2160" y="1773936"/>
            <a:ext cx="144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Open Sauce Bold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2160" y="2670048"/>
            <a:ext cx="144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Open Sauce"/>
              </a:rPr>
              <a:t>Companies
(Salesforce)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1400" y="1664208"/>
            <a:ext cx="1447800" cy="178308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1400" y="1773936"/>
            <a:ext cx="144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Open Sauce Bold"/>
              </a:rPr>
              <a:t>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400" y="2670048"/>
            <a:ext cx="144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Open Sauce"/>
              </a:rPr>
              <a:t>Persons
(Salesforce, count TBD)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664208"/>
            <a:ext cx="1447800" cy="1783080"/>
          </a:xfrm>
          <a:prstGeom prst="rect">
            <a:avLst/>
          </a:prstGeom>
          <a:solidFill>
            <a:srgbClr val="6A3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773936"/>
            <a:ext cx="144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Open Sauce Bold"/>
              </a:rPr>
              <a:t>2 of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670048"/>
            <a:ext cx="144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Open Sauce"/>
              </a:rPr>
              <a:t>Sources
connected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59880" y="1664208"/>
            <a:ext cx="1447800" cy="178308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9880" y="1773936"/>
            <a:ext cx="144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Open Sauce Bold"/>
              </a:rPr>
              <a:t>&lt; 4 hrs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9880" y="2670048"/>
            <a:ext cx="144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Open Sauce"/>
              </a:rPr>
              <a:t>End-to-end
latency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9120" y="1664208"/>
            <a:ext cx="1447800" cy="1783080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9120" y="1773936"/>
            <a:ext cx="144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Open Sauce Bold"/>
              </a:rPr>
              <a:t>9 types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9120" y="2670048"/>
            <a:ext cx="144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Open Sauce"/>
              </a:rPr>
              <a:t>Entity types
defined (2 live)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602736"/>
            <a:ext cx="2423160" cy="32918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65760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uce Bold"/>
              </a:rPr>
              <a:t>Entity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602736"/>
            <a:ext cx="1600200" cy="32918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90088" y="365760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uce Bold"/>
              </a:rPr>
              <a:t>Load type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3602736"/>
            <a:ext cx="1371600" cy="32918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3657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uce Bold"/>
              </a:rPr>
              <a:t>Records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97880" y="3602736"/>
            <a:ext cx="2560320" cy="32918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61888" y="36576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uce Bold"/>
              </a:rPr>
              <a:t>Athena 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3602736"/>
            <a:ext cx="621792" cy="32918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22208" y="3657600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uce Bold"/>
              </a:rPr>
              <a:t>Status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931920"/>
            <a:ext cx="24231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3986784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MySQL — Contracts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3931920"/>
            <a:ext cx="1600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0088" y="398678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Incremental (SCD1)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26280" y="3931920"/>
            <a:ext cx="13716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0288" y="39867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36,023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97880" y="3931920"/>
            <a:ext cx="25603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61888" y="398678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edl_analytics.contract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58200" y="3931920"/>
            <a:ext cx="6217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22208" y="3986784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96B24"/>
                </a:solidFill>
                <a:latin typeface="Open Sauce"/>
              </a:rPr>
              <a:t>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261104"/>
            <a:ext cx="2423160" cy="32918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431596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Salesforce Account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4261104"/>
            <a:ext cx="1600200" cy="32918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90088" y="431596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Full load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26280" y="4261104"/>
            <a:ext cx="1371600" cy="32918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90288" y="4315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34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97880" y="4261104"/>
            <a:ext cx="2560320" cy="32918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61888" y="4315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edl_analytics.company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58200" y="4261104"/>
            <a:ext cx="621792" cy="32918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22208" y="4315968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96B24"/>
                </a:solidFill>
                <a:latin typeface="Open Sauce"/>
              </a:rPr>
              <a:t>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590288"/>
            <a:ext cx="24231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4645152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Salesforce Contact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0" y="4590288"/>
            <a:ext cx="1600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0088" y="464515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Incremental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26280" y="4590288"/>
            <a:ext cx="13716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90288" y="46451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Live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7880" y="4590288"/>
            <a:ext cx="25603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61888" y="464515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edl_analytics.person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58200" y="4590288"/>
            <a:ext cx="6217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22208" y="4645152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96B24"/>
                </a:solidFill>
                <a:latin typeface="Open Sauce"/>
              </a:rPr>
              <a:t>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4919472"/>
            <a:ext cx="2423160" cy="32918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4974336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Sage Intacct &amp; Sage X3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26080" y="4919472"/>
            <a:ext cx="1600200" cy="32918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90088" y="497433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Incremental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26280" y="4919472"/>
            <a:ext cx="1371600" cy="32918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90288" y="49743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Not connected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97880" y="4919472"/>
            <a:ext cx="2560320" cy="32918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61888" y="497433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458200" y="4919472"/>
            <a:ext cx="621792" cy="32918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22208" y="4974336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🔲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5248656"/>
            <a:ext cx="24231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6928" y="530352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NetSuite — Customer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926080" y="5248656"/>
            <a:ext cx="1600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90088" y="53035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Incremental (SCD1)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26280" y="5248656"/>
            <a:ext cx="13716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90288" y="53035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Not connected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897880" y="5248656"/>
            <a:ext cx="25603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61888" y="53035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edl_analytics.company (ready)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458200" y="5248656"/>
            <a:ext cx="6217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22208" y="5303520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🔲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2920" y="5577840"/>
            <a:ext cx="2423160" cy="32918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6928" y="5632704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Serving Store (5 engines)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26080" y="5577840"/>
            <a:ext cx="1600200" cy="32918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990088" y="563270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Hash-diff / S3 COPY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26280" y="5577840"/>
            <a:ext cx="1371600" cy="32918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90288" y="563270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Not deployed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897880" y="5577840"/>
            <a:ext cx="2560320" cy="32918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961888" y="563270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458200" y="5577840"/>
            <a:ext cx="621792" cy="32918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522208" y="5632704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Open Sauce"/>
              </a:rPr>
              <a:t>🔲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2920" y="5998464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Open Sauce"/>
              </a:rPr>
              <a:t>Athena workgroup: EdlAnalytics  ·  Database: edl_analytics  ·  Account: 087972550871 / us-east-1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Known Gaps — What's Not Done Yet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Tracked openly and ordered by severity — none of these block current dev usage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834640" cy="365760"/>
          </a:xfrm>
          <a:prstGeom prst="rect">
            <a:avLst/>
          </a:prstGeom>
          <a:solidFill>
            <a:srgbClr val="383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Gap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664208"/>
            <a:ext cx="3657600" cy="365760"/>
          </a:xfrm>
          <a:prstGeom prst="rect">
            <a:avLst/>
          </a:prstGeom>
          <a:solidFill>
            <a:srgbClr val="383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73736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Why It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664208"/>
            <a:ext cx="2743200" cy="365760"/>
          </a:xfrm>
          <a:prstGeom prst="rect">
            <a:avLst/>
          </a:prstGeom>
          <a:solidFill>
            <a:srgbClr val="383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7373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Plan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029968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93976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No IAM-level tenant boundary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029968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093976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Isolation is convention-based in places — the single largest security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2029968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2093976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Design before a 2nd paying tenant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532888"/>
            <a:ext cx="283464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596896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Serving store has no BI network 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2532888"/>
            <a:ext cx="36576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2596896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No VPN/PrivateLink exists — BI tools can't reach the database yet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2532888"/>
            <a:ext cx="27432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2596896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Client VPN + per-tenant certs (recommended)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035808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099816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Glue/Athena grants span all tenants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3035808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3099816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Wildcard Lake Formation grant — 3 admin roles can query every tenant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95160" y="3035808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3099816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Per-tenant databases or LF data-cell filters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38728"/>
            <a:ext cx="283464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602736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Secrets Manager shared per connector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3538728"/>
            <a:ext cx="36576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3602736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One credential per source type, not per tenant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95160" y="3538728"/>
            <a:ext cx="27432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3602736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Fine at 1 tenant; needed before 2nd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041648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105656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No admin check on tenant creation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37560" y="4041648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4105656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Any authenticated caller can create a tenant today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95160" y="4041648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86600" y="4105656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Add admin-only authorization claim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544568"/>
            <a:ext cx="283464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608576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No external compliance audit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7560" y="4544568"/>
            <a:ext cx="36576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29000" y="4608576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No SOC 2 / GDPR / HIPAA review performed yet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95160" y="4544568"/>
            <a:ext cx="27432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86600" y="4608576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Not started — needed before regulated data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120640"/>
            <a:ext cx="9235440" cy="49377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175504"/>
            <a:ext cx="9006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uce Bold"/>
              </a:rPr>
              <a:t>20 gaps tracked in total (10 security, 10 performance) — full detail in the roadmap doc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Business Outcomes &amp; ROI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Projected improvements vs. before the platform — validated against real dev pipeline behaviour, not yet a live paying tenant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3017520" cy="365760"/>
          </a:xfrm>
          <a:prstGeom prst="rect">
            <a:avLst/>
          </a:prstGeom>
          <a:solidFill>
            <a:srgbClr val="383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664208"/>
            <a:ext cx="2788920" cy="3657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7373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Before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64208"/>
            <a:ext cx="3429000" cy="36576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After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029968"/>
            <a:ext cx="3017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93976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Time to data availability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2029968"/>
            <a:ext cx="2788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09397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24–72 hours (manual)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029968"/>
            <a:ext cx="3429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0939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1–4 hours (automated)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14016"/>
            <a:ext cx="301752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478024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Customer identity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2414016"/>
            <a:ext cx="278892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247802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Multiple disconnected views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414016"/>
            <a:ext cx="342900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47802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Single golden record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798064"/>
            <a:ext cx="3017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862072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PII in analytics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2798064"/>
            <a:ext cx="2788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286207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Uncontrolled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798064"/>
            <a:ext cx="3429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8620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Masked at pipeline level, always-on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182112"/>
            <a:ext cx="301752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246120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Audit trail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3182112"/>
            <a:ext cx="278892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324612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None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182112"/>
            <a:ext cx="342900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24612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Full lineage: source→golden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566160"/>
            <a:ext cx="3017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630168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New source onboarding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3566160"/>
            <a:ext cx="2788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11880" y="363016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2–4 weeks (code + deploy)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566160"/>
            <a:ext cx="3429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6301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2–3 days (config only)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950208"/>
            <a:ext cx="301752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014216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New customer onboarding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40" y="3950208"/>
            <a:ext cx="278892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11880" y="40142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Shared environment, no isolation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950208"/>
            <a:ext cx="342900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01421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Self-service API, tenant path isolated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334256"/>
            <a:ext cx="3017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4398264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Credential security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20440" y="4334256"/>
            <a:ext cx="2788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11880" y="439826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Scripts + shared .env files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4334256"/>
            <a:ext cx="3429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39826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Open Sauce"/>
              </a:rPr>
              <a:t>AWS Secrets Manager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791456"/>
            <a:ext cx="9235440" cy="1371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882896"/>
            <a:ext cx="9006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AWS infrastructure: ~$770–790/month (projected) vs. ~$36,000/year for a comparable 5-source SaaS platform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303520"/>
            <a:ext cx="9006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Open Sauce"/>
              </a:rPr>
              <a:t>Year 1 TCO: ~$42,260 (setup + ops + AWS) vs. ~$330,000/year for a 2-engineer in-house build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5724144"/>
            <a:ext cx="9006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7132"/>
                </a:solidFill>
                <a:latin typeface="Open Sauce Bold"/>
              </a:rPr>
              <a:t>Projected ROI: ~103% Year 1, ~322% Year 2+ — not yet measured against a live paying tenant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Purpose-built on proven AWS-native services and open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447800" cy="482803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73936"/>
            <a:ext cx="126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Runtime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249424"/>
            <a:ext cx="130149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359152"/>
            <a:ext cx="126492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Python 3.14 — AWS Lambda
PyArrow — Parquet I/O · DuckDB — streaming reads
Pydantic — config validation
psycopg · pymssql · redshift-connector — serving-store drivers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87880" y="1664208"/>
            <a:ext cx="1447800" cy="4828032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7608" y="1773936"/>
            <a:ext cx="126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Orchestration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1032" y="2249424"/>
            <a:ext cx="130149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7608" y="2359152"/>
            <a:ext cx="126492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AWS Step Functions
Amazon EventBridge
AWS Lambda (8 fn, 1 zip)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2840" y="1664208"/>
            <a:ext cx="1447800" cy="4828032"/>
          </a:xfrm>
          <a:prstGeom prst="rect">
            <a:avLst/>
          </a:prstGeom>
          <a:solidFill>
            <a:srgbClr val="6A3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2568" y="1773936"/>
            <a:ext cx="126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5992" y="2249424"/>
            <a:ext cx="130149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2568" y="2359152"/>
            <a:ext cx="126492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Amazon S3 (3 data layers)
Amazon DynamoDB (6 tables)
AWS Glue Data Catalog
Serving store: MySQL/Postgres/SQL Server (RDS) · Redshift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1664208"/>
            <a:ext cx="1447800" cy="4828032"/>
          </a:xfrm>
          <a:prstGeom prst="rect">
            <a:avLst/>
          </a:prstGeom>
          <a:solidFill>
            <a:srgbClr val="C05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7528" y="1773936"/>
            <a:ext cx="126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Analytics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0952" y="2249424"/>
            <a:ext cx="130149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67528" y="2359152"/>
            <a:ext cx="126492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Amazon Athena (SQL queries)
AWS Lake Formation
Apache Parquet (columnar)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42760" y="1664208"/>
            <a:ext cx="1447800" cy="4828032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2488" y="1773936"/>
            <a:ext cx="126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Security &amp; Ops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15912" y="2249424"/>
            <a:ext cx="130149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52488" y="2359152"/>
            <a:ext cx="126492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AWS Secrets Manager
Amazon Cognito (JWT auth)
AWS IAM (least-privilege)
Amazon CloudWatch  ·  SQS DLQ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27720" y="1664208"/>
            <a:ext cx="1447800" cy="4828032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37448" y="1773936"/>
            <a:ext cx="126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DevOps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0872" y="2249424"/>
            <a:ext cx="130149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7448" y="2359152"/>
            <a:ext cx="126492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Open Sauce"/>
              </a:rPr>
              <a:t>Terraform ≥ 1.8 (IaC)
pytest + moto (testing)
ruff + mypy + bandit + detect-secrets
GitHub Actions 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3E48"/>
                </a:solidFill>
                <a:latin typeface="Open Sauce Bold"/>
              </a:rPr>
              <a:t>What's Next —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6082"/>
                </a:solidFill>
                <a:latin typeface="Open Sauce"/>
              </a:rPr>
              <a:t>Dev is live and hardened for 2 sources  ·  BI-network design and staging are the immediate priorities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205990" cy="384048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205968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Now — Dev ✅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48256"/>
            <a:ext cx="2205990" cy="4233672"/>
          </a:xfrm>
          <a:prstGeom prst="rect">
            <a:avLst/>
          </a:prstGeom>
          <a:solidFill>
            <a:srgbClr val="F8F8F8"/>
          </a:solidFill>
          <a:ln w="1270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167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Salesforce + MySQL RDS live end-to-end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529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Entity resolution: company &amp; person golden records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5387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Self-service control plane code-complete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2245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Serving store code-complete across 5 database engines (incl. Amazon Redshift)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9103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1,600 tests passing, 80% coverage gate, ruff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596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Multi-tenant isolation hardened at the data-key level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1790" y="1664208"/>
            <a:ext cx="220599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1719072"/>
            <a:ext cx="205968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Next — Near-Term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91790" y="2048256"/>
            <a:ext cx="2205990" cy="4233672"/>
          </a:xfrm>
          <a:prstGeom prst="rect">
            <a:avLst/>
          </a:prstGeom>
          <a:solidFill>
            <a:srgbClr val="F8F8F8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1518" y="2167128"/>
            <a:ext cx="202311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Design &amp; build a BI network path for the serving store (Client VPN)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518" y="2880360"/>
            <a:ext cx="202311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Activate Sage Intacct, Sage X3, and NetSuite 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1518" y="3593592"/>
            <a:ext cx="202311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Scope per-tenant Glue/Athena access controls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1518" y="4306824"/>
            <a:ext cx="202311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Exercise the control-plane API against a real Cognito 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1518" y="5020056"/>
            <a:ext cx="202311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Provision staging environment (terraform apply)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80660" y="1664208"/>
            <a:ext cx="2205990" cy="38404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2100" y="1719072"/>
            <a:ext cx="205968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Soon — Staging &amp; Prod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80660" y="2048256"/>
            <a:ext cx="2205990" cy="4233672"/>
          </a:xfrm>
          <a:prstGeom prst="rect">
            <a:avLst/>
          </a:prstGeom>
          <a:solidFill>
            <a:srgbClr val="F8F8F8"/>
          </a:solidFill>
          <a:ln w="127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0388" y="2167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Staging: provision infra, seed configs, smoke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0388" y="28529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Production: infra provisioning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0388" y="35387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Pilot tenant onboarding + load test at target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0388" y="42245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365-day log retention (already in HCL)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0388" y="49103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Credential rotation policy enabled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0388" y="5596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Go-live readiness checklist sign-off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69530" y="1664208"/>
            <a:ext cx="2205990" cy="384048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0970" y="1719072"/>
            <a:ext cx="205968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uce Bold"/>
              </a:rPr>
              <a:t>Backlog — Hardening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69530" y="2048256"/>
            <a:ext cx="2205990" cy="4233672"/>
          </a:xfrm>
          <a:prstGeom prst="rect">
            <a:avLst/>
          </a:prstGeom>
          <a:solidFill>
            <a:srgbClr val="F8F8F8"/>
          </a:solidFill>
          <a:ln w="1270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9258" y="2167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IAM-enforced tenant isolation (the single biggest security gap)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9258" y="28529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Per-tenant Secrets Manager credentials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9258" y="35387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Admin-only authorization for tenant provisioning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9258" y="42245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External security/compliance audit (SOC 2, GDPR, HIPAA)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9258" y="49103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Fix known config errors (NetSuite record_type, supplier match-rule keys)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9258" y="5596128"/>
            <a:ext cx="202311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Open Sauce"/>
              </a:rPr>
              <a:t>▸  Serving-store reader-credential distribution/rotation mechanism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383E48"/>
                </a:solidFill>
                <a:latin typeface="Open Sauce Bold"/>
              </a:rPr>
              <a:t>A Platform Built
for the Long Term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103120"/>
            <a:ext cx="9326880" cy="381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292608" cy="42062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76856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86000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Automated, end-to-end pipeline — running in the dev environment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07208"/>
            <a:ext cx="292608" cy="42062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843784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52928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Five source connectors on one adapter pattern — two live, three ready the moment credentials land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74136"/>
            <a:ext cx="292608" cy="420624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10712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419856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Entity resolution delivering one golden record per customer, streamed at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41064"/>
            <a:ext cx="292608" cy="420624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7764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986784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Multi-tenant isolation hardened at the data-key level — IAM-level enforcement is the next milestone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07992"/>
            <a:ext cx="292608" cy="42062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544568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553712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Self-service control plane ready to onboard the next customer via API, not scripts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74920"/>
            <a:ext cx="292608" cy="42062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111496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5120640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Serving store built and tested across five database engines (incl. Amazon Redshift) — a network design away from going live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641848"/>
            <a:ext cx="292608" cy="420624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678424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5687568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Open Sauce"/>
              </a:rPr>
              <a:t>Every open gap tracked and documented — queryable today in standard SQL via Amazon Athena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uce"/>
              </a:rPr>
              <a:t>Enterprise Data Lake Platform  ·  Platform Engineering  ·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