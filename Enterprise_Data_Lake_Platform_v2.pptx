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5943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383E48"/>
                </a:solidFill>
                <a:latin typeface="Open Sauce Bold"/>
              </a:rPr>
              <a:t>Enterprise Data Lake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783080"/>
            <a:ext cx="9144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56082"/>
                </a:solidFill>
                <a:latin typeface="Open Sauce"/>
              </a:rPr>
              <a:t>Automated  ·  Metadata-Driven  ·  Cloud-Native  ·  Governed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24028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359152"/>
            <a:ext cx="8961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22222"/>
                </a:solidFill>
                <a:latin typeface="Open Sauce"/>
              </a:rPr>
              <a:t>A unified platform connecting Salesforce CRM, MySQL RDS, Sage ERP, and NetSuite ERP
into a single trusted, analytics-ready data foundation — built on AWS.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3429000"/>
            <a:ext cx="2514600" cy="42062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Dev  ✅  Live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46120" y="3429000"/>
            <a:ext cx="2514600" cy="420624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3756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Staging  🔲  Next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3429000"/>
            <a:ext cx="2514600" cy="420624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3465576"/>
            <a:ext cx="2331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Production  🔲  Planned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Platform Engineering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The Problem We Solved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Data lived in silos — disconnected, delayed, and insecure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4028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0" y="1664208"/>
            <a:ext cx="224028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1737360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What it held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1664208"/>
            <a:ext cx="214884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73736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Who used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32320" y="1664208"/>
            <a:ext cx="2606040" cy="3657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0" y="173736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Pain 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0299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093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Salesforce CRM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20299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40" y="2093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Accounts &amp; contacts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202996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2093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Sales, 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0" y="2029968"/>
            <a:ext cx="2606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2093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Manual exports; no audit trail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4871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5511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MySQL RDS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4871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34640" y="25511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Contracts &amp; orders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83480" y="2487168"/>
            <a:ext cx="21488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74920" y="25511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Operations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32320" y="2487168"/>
            <a:ext cx="26060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0" y="25511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24–72 hr delay; brittle scripts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9443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0083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Sage Intacct/X3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29443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834640" y="30083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AR/AP invoices, vendors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83480" y="294436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4920" y="30083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Finance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32320" y="2944368"/>
            <a:ext cx="2606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0" y="30083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Disconnected from CRM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4015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" y="34655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NetSuite ERP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4015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34640" y="34655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Customers, transactions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83480" y="3401568"/>
            <a:ext cx="21488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74920" y="34655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Finance, Ops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132320" y="3401568"/>
            <a:ext cx="26060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0" y="34655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Siloed from CRM &amp; Sage data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8587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39227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All systems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0" y="3858768"/>
            <a:ext cx="224028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834640" y="39227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Credentials stored in scripts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83480" y="3858768"/>
            <a:ext cx="21488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4920" y="39227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Engineering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132320" y="3858768"/>
            <a:ext cx="2606040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0" y="39227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Security risk, no rotation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3159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4379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All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0" y="4315968"/>
            <a:ext cx="224028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834640" y="4379976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Same customer = 4 records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983480" y="4315968"/>
            <a:ext cx="21488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437997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Analytics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32320" y="4315968"/>
            <a:ext cx="2606040" cy="4572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223760" y="4379976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No single source of truth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4846320"/>
            <a:ext cx="9235440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4919472"/>
            <a:ext cx="9006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Open Sauce Bold"/>
              </a:rPr>
              <a:t>Result: stale data  ·  no audit trail  ·  no single source of truth  ·  weeks to onboard any new data source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24–72 hr delay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581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10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856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1–4 hr automated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788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834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4 disconnected views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867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096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42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1 golden record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74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20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No audit trail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53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82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28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Full lineage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60920" y="5431536"/>
            <a:ext cx="1051560" cy="594360"/>
          </a:xfrm>
          <a:prstGeom prst="rect">
            <a:avLst/>
          </a:prstGeom>
          <a:solidFill>
            <a:srgbClr val="FFEE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06640" y="5477256"/>
            <a:ext cx="9601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02020"/>
                </a:solidFill>
                <a:latin typeface="Open Sauce"/>
              </a:rPr>
              <a:t>Credentials in scripts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39912" y="5614416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383E48"/>
                </a:solidFill>
                <a:latin typeface="Open Sauce Bold"/>
              </a:rPr>
              <a:t>→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668512" y="5431536"/>
            <a:ext cx="914400" cy="59436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714232" y="5477256"/>
            <a:ext cx="8229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96B24"/>
                </a:solidFill>
                <a:latin typeface="Open Sauce"/>
              </a:rPr>
              <a:t>AWS Secrets Manager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What We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A fully automated, metadata-driven data lake on AWS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40280" cy="416966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Multi-Source
Connectors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2057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Salesforce  ·  MySQL RDS
Sage Intacct  ·  Sage X3  ·  NetSuite
OAuth 2.0 / REST / JWT / TBA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664208"/>
            <a:ext cx="2240280" cy="4169664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4-Stage
Pipeline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359152"/>
            <a:ext cx="2057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Extract  →  Transform
→  Resolve  →  Publish
AWS Step Functions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664208"/>
            <a:ext cx="2240280" cy="4169664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Entity
Resolution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095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2359152"/>
            <a:ext cx="2057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One golden record per
customer across all
source systems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1664208"/>
            <a:ext cx="2240280" cy="416966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Governed
Analytics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0839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44968" y="2359152"/>
            <a:ext cx="2057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SQL via Athena
PII masking  ·  Lineage
Quality report per 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943600"/>
            <a:ext cx="9235440" cy="62179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5 sources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connected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95728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35,971+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5728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records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0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42816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to add a source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9904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&lt; 4 hrs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9904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end-to-end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36992" y="5971032"/>
            <a:ext cx="17739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Open Sauce Bold"/>
              </a:rPr>
              <a:t>~$469/mo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6992" y="6281928"/>
            <a:ext cx="17739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CDDFF"/>
                </a:solidFill>
                <a:latin typeface="Open Sauce"/>
              </a:rPr>
              <a:t>AWS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Architecture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Event-driven  ·  Serverless  ·  Three governed data layers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9235440" cy="658368"/>
          </a:xfrm>
          <a:prstGeom prst="rect">
            <a:avLst/>
          </a:prstGeom>
          <a:solidFill>
            <a:srgbClr val="E3EEF8"/>
          </a:solidFill>
          <a:ln w="1905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28216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56082"/>
                </a:solidFill>
                <a:latin typeface="Open Sauce Bold"/>
              </a:rPr>
              <a:t>SOURCE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002536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Salesforce CRM  ·  MySQL RDS  ·  Sage Intacct  ·  Sage X3  ·  NetSuite ERP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9235440" cy="658368"/>
          </a:xfrm>
          <a:prstGeom prst="rect">
            <a:avLst/>
          </a:prstGeom>
          <a:solidFill>
            <a:srgbClr val="F3ECFF"/>
          </a:solidFill>
          <a:ln w="19050">
            <a:solidFill>
              <a:srgbClr val="6A3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441448"/>
            <a:ext cx="9052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3FC0"/>
                </a:solidFill>
                <a:latin typeface="Open Sauce Bold"/>
              </a:rPr>
              <a:t>ORCHESTRATION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2715768"/>
            <a:ext cx="9052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Amazon EventBridge Scheduler  →  AWS Step Functions state machine  ·  DynamoDB (config, watermark, audit log)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090672"/>
            <a:ext cx="2956560" cy="2331720"/>
          </a:xfrm>
          <a:prstGeom prst="rect">
            <a:avLst/>
          </a:prstGeom>
          <a:solidFill>
            <a:srgbClr val="E8F5E9"/>
          </a:solidFill>
          <a:ln w="1905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3154680"/>
            <a:ext cx="277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96B24"/>
                </a:solidFill>
                <a:latin typeface="Open Sauce Bold"/>
              </a:rPr>
              <a:t>RAW LAYER  (S3)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3474720"/>
            <a:ext cx="277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Immutable, append-only
Parquet + S3 Object Lock
Hive-partitioned by date
Schema snapshots + drift reports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42360" y="3090672"/>
            <a:ext cx="2956560" cy="2331720"/>
          </a:xfrm>
          <a:prstGeom prst="rect">
            <a:avLst/>
          </a:prstGeom>
          <a:solidFill>
            <a:srgbClr val="F3ECFF"/>
          </a:solidFill>
          <a:ln w="19050">
            <a:solidFill>
              <a:srgbClr val="6A3F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52088" y="3154680"/>
            <a:ext cx="277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6A3FC0"/>
                </a:solidFill>
                <a:latin typeface="Open Sauce Bold"/>
              </a:rPr>
              <a:t>CURATED LAYER 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52088" y="3474720"/>
            <a:ext cx="277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Field-mapped (v1.json)
Quality-evaluated
PII masked · SCD Type 1
Canonical column names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81800" y="3090672"/>
            <a:ext cx="2956560" cy="2331720"/>
          </a:xfrm>
          <a:prstGeom prst="rect">
            <a:avLst/>
          </a:prstGeom>
          <a:solidFill>
            <a:srgbClr val="FFF3E8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91528" y="3154680"/>
            <a:ext cx="2773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97132"/>
                </a:solidFill>
                <a:latin typeface="Open Sauce Bold"/>
              </a:rPr>
              <a:t>ANALYTICS LAYER  (S3 + Glue)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1528" y="3474720"/>
            <a:ext cx="2773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Golden records
Athena-queryable tables
Partitioned by analytics_date
Lake Formation access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6328" y="4055364"/>
            <a:ext cx="310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97132"/>
                </a:solidFill>
                <a:latin typeface="Open Sauce Bold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5768" y="4055364"/>
            <a:ext cx="31089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E97132"/>
                </a:solidFill>
                <a:latin typeface="Open Sauce Bold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532120"/>
            <a:ext cx="2205990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607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1
Extraction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46070" y="5532120"/>
            <a:ext cx="2205990" cy="594360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1922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2
Transformation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89220" y="5532120"/>
            <a:ext cx="2205990" cy="59436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6237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3
Entity Resolution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32370" y="5532120"/>
            <a:ext cx="2205990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05522" y="5577840"/>
            <a:ext cx="209626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Open Sauce Bold"/>
              </a:rPr>
              <a:t>Lambda 4
Analytics Publisher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Data Source Connectors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Pluggable adapter pattern — add a new source without changing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764792" cy="473659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Salesforce CRM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OAuth 2.0 client_credentials
Bulk API 2.0 (async CSV)
Entities: Account, Contact
Watermark: SystemModstamp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04872" y="1664208"/>
            <a:ext cx="1764792" cy="4736592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96312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MySQL RDS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78024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14600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AWS Secrets Manager creds
VPC + NAT Gateway
Entity: Contracts (incremental)
Watermark: ModifiedOn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06824" y="1664208"/>
            <a:ext cx="1764792" cy="4736592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8264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16552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Sage Intacct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79976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6552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REST API, OAuth 2.0
Entities: Customer, Vendor,
AR Invoice, AP Bill
Watermark: auditInfo.modifiedAt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8776" y="1664208"/>
            <a:ext cx="1764792" cy="4736592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Sage X3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81928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18504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REST API, OAuth 2.0
Entities: Customer, Supplier
Same SageConnector adapter
Watermark incremental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0728" y="1664208"/>
            <a:ext cx="1764792" cy="4736592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02168" y="1755648"/>
            <a:ext cx="1627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0456" y="2249424"/>
            <a:ext cx="1581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NetSuite ERP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2724912"/>
            <a:ext cx="1618488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0456" y="2834640"/>
            <a:ext cx="1581912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OAuth 1.0a TBA (HMAC-SHA256)
SuiteQL incremental extraction
Entity: Customer (any record type)
Watermark: lastModifiedDate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6419088"/>
            <a:ext cx="9235440" cy="34747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73952"/>
            <a:ext cx="9006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Open Sauce Bold"/>
              </a:rPr>
              <a:t>All connectors implement ExtractionConnector  ·  3 methods to register a new source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1 — Extraction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Source systems  →  S3 Raw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30906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Processing Steps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Config from DynamoDB: entity_id, load_type, watermark_field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Credentials from Secrets Manager — never in code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Metadata discovery validates schema before querying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Query: full load  or  incremental (watermark window)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Records streamed one-at-a-time — no large memory use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Schema snapshot saved to S3 after each extraction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Drift detection: added / removed / type-changed columns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Reliability &amp; Security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Circuit breaker (DynamoDB-backed) — stops broken sources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Exponential backoff + jitter on transient errors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Dead-letter queue (SQS) for replay on failures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First-run incremental: epoch (1970) lower bound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S3 Object Lock on raw layer — immutable audit trail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IAM least-privilege scoped to exact S3 prefixes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Run audit log entry written to DynamoDB per run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07023"/>
            <a:ext cx="9235440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61887"/>
            <a:ext cx="9006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6082"/>
                </a:solidFill>
                <a:latin typeface="Courier New"/>
              </a:rPr>
              <a:t>S3 path:  s3://dev-edl-raw-layer/raw/{source_id}/{entity_id}/extraction_date=YYYY-MM-DD/part-NNNNN.parquet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2 — Transformation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Raw Layer  →  Curated Layer  (canonical, quality-checked, PII masked)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3090672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Processing Steps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Reads Parquet from raw layer — streaming, no full load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Field mapping: source → canonical names (v1.json)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Transforms: CAST · CONCAT · DATE_FORMAT · DIRECT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Missing field: raise_error / use_default / drop_field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Quality check: completeness, null rate, type conformance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PII masking applied before curated write — never skipped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SCD Type 1 merge: partition = full current state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Lineage record emitted for every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Configuration (no code needed)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Mappings stored in S3 (curated bucket) — version-controlled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Path: config/field_mappings/{source}/{entity}/v1.json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No code change to add a mapping — upload JSON + re-run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primary_key_field → upsert merge; absent = append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soft_delete_field → tombstone (is_deleted flag)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Quality thresholds configurable per entity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Output: curated_date=YYYY-MM-DD/run_id=.../data.parquet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907023"/>
            <a:ext cx="9235440" cy="512064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961887"/>
            <a:ext cx="9006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56082"/>
                </a:solidFill>
                <a:latin typeface="Courier New"/>
              </a:rPr>
              <a:t>{ "source_fields":["AnnualRevenue"], "target_field":"annual_revenue", "transformation":"CAST", "type":"decimal", "missing_field_behavior":"use_default", "default_value":"0" 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3 — Entity Resolution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Cross-source deduplication  →  one Golden Record per real-world entity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171700" cy="1874519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Salesforce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account_id
account_name
billing_country
is_active · annual_revenue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03220" y="1664208"/>
            <a:ext cx="2171700" cy="1874519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29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Sage Intacct Customer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29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customer_id
company_name
credit_limit
outstanding_balance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664208"/>
            <a:ext cx="2171700" cy="1874519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32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Sage X3 Customer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32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customer_code
customer_name
country_code
account_manager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03820" y="1664208"/>
            <a:ext cx="2171700" cy="1874519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3548" y="1755648"/>
            <a:ext cx="19888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pen Sauce Bold"/>
              </a:rPr>
              <a:t>NetSuite 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3548" y="2176272"/>
            <a:ext cx="19888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DEEFF"/>
                </a:solidFill>
                <a:latin typeface="Open Sauce"/>
              </a:rPr>
              <a:t>customer_id
company_name
email_address
full_name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17620" y="360273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E97132"/>
                </a:solidFill>
                <a:latin typeface="Open Sauce Bold"/>
              </a:rPr>
              <a:t>⬇  MATCH &amp; MERGE  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9372600" cy="1325880"/>
          </a:xfrm>
          <a:prstGeom prst="rect">
            <a:avLst/>
          </a:prstGeom>
          <a:solidFill>
            <a:srgbClr val="FFF8F0"/>
          </a:solidFill>
          <a:ln w="1905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413308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97132"/>
                </a:solidFill>
                <a:latin typeface="Open Sauce Bold"/>
              </a:rPr>
              <a:t>🏆  GOLDEN RECORD  —  company entity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98848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entity_id  ·  account_name  ·  annual_revenue (Salesforce preferred)  ·  credit_limit (Sage preferred)  ·  outstanding_balance  ·  is_active
Survivorship policy: configurable field-level source preference per entity 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58968"/>
            <a:ext cx="9372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Blocking + fuzzy name matching — configurable per entity type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Survivorship: preferred source per field (Salesforce → is_active; Sage → credit_limit)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Entity types: company  ·  person  ·  contract  —  extensible via config</a:t>
            </a:r>
          </a:p>
          <a:p>
            <a:pPr algn="l"/>
            <a:r>
              <a:rPr sz="1200">
                <a:solidFill>
                  <a:srgbClr val="222222"/>
                </a:solidFill>
                <a:latin typeface="Open Sauce"/>
              </a:rPr>
              <a:t>•  Output → s3://dev-edl-analytics-layer/canonical/{entity_type}/golden_date={date}/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Pipeline Stage 4 — Analytics Publisher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Golden Records  →  Athena-queryable partitioned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64208"/>
            <a:ext cx="4343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56082"/>
                </a:solidFill>
                <a:latin typeface="Open Sauce Bold"/>
              </a:rPr>
              <a:t>What it does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Reads golden records from analytics layer (canonical/ prefix)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Writes partitioned Parquet: analytics_date=YYYY-MM-DD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Registers Glue Data Catalog table (dev_edl_analytics)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Adds Hive partition for the run's analytics_date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Grants Lake Formation permissions to analytics users</a:t>
            </a:r>
          </a:p>
          <a:p>
            <a:pPr algn="l"/>
            <a:r>
              <a:rPr sz="1300">
                <a:solidFill>
                  <a:srgbClr val="222222"/>
                </a:solidFill>
                <a:latin typeface="Open Sauce"/>
              </a:rPr>
              <a:t>•  CloudWatch metrics: record count, partition, latency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66360" y="1664208"/>
            <a:ext cx="4572000" cy="4114800"/>
          </a:xfrm>
          <a:prstGeom prst="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0" y="175564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082"/>
                </a:solidFill>
                <a:latin typeface="Open Sauce Bold"/>
              </a:rPr>
              <a:t>Query in Amazon Athena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21671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-- All companies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3728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SELECT * FROM dev_edl_analytics.company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5786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WHERE analytics_date='2026-07-02';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27843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29900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-- Active contracts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1958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SELECT COUNT(*) FROM dev_edl_analytics.contract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4015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WHERE analytics_date='2026-07-02'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6073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AND is_deleted = false;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38130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187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Courier New"/>
              </a:rPr>
              <a:t>-- Cross-entity join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42245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SELECT c.account_name, COUNT(k.contract_id)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43026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FROM dev_edl_analytics.company 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63600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JOIN dev_edl_analytics.contract 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84174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  ON c.account_id = k.tenant_id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504748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>GROUP BY c.account_name;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3520" y="5253228"/>
            <a:ext cx="4343400" cy="2057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2222"/>
                </a:solidFill>
                <a:latin typeface="Courier New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870448"/>
            <a:ext cx="9235440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5943600"/>
            <a:ext cx="9006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Open Sauce Bold"/>
              </a:rPr>
              <a:t>Live today (dev):  34 companies  ·  49 persons  ·  35,971 contracts  — queryable via Athena right now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Data Governance &amp; Security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Compliance built into the pipeline — not bolted on afterwards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40280" cy="298094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PII Masking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Applied at transformation — before curated write
Sensitive fields tokenised, never plain text
Policy version-controlled per entity
Non-optional — pipeline fails if policy missing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360" y="1664208"/>
            <a:ext cx="2240280" cy="2980944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Data Lineage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9008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Emitted for every run:
source → curated → golden record
Field count, run_id, entity_id, timestamp
Queryable via Athena or S3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1664208"/>
            <a:ext cx="2240280" cy="2980944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6752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Data Classification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3095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Fields: PUBLIC / INTERNAL / CONFIDENTIAL / PII
Applied at source onboarding
Drives masking + retention rules
Registered in AWS Glue Catalog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1664208"/>
            <a:ext cx="2240280" cy="298094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1773936"/>
            <a:ext cx="2057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Open Sauce Bold"/>
              </a:rPr>
              <a:t>Retention Policy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08392" y="2249424"/>
            <a:ext cx="209397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44968" y="2359152"/>
            <a:ext cx="2057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EEEEE"/>
                </a:solidFill>
                <a:latin typeface="Open Sauce"/>
              </a:rPr>
              <a:t>Configurable per classification tier
Raw: S3 Object Lock (immutable)
Curated/analytics: policy-enforced
Dev: 30-day; Prod: 365-day logs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709160"/>
            <a:ext cx="9235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383E48"/>
                </a:solidFill>
                <a:latin typeface="Open Sauce Bold"/>
              </a:rPr>
              <a:t>Security Controls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All credentials via AWS Secrets Manager — never in code or logs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IAM least-privilege: roles scoped to exact S3 prefixes and DynamoDB tables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Only designated Lambda role can write to each S3 layer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All event inputs validated with regex (OWASP A03 injection prevention)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No record field values ever logged — counts/IDs only (OWASP A09)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Observability &amp;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Every run is measurable, traceable, and self-healing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470916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082"/>
                </a:solidFill>
                <a:latin typeface="Open Sauce Bold"/>
              </a:rPr>
              <a:t>Monitoring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48256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066544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Structured Logging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40864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JSON per stage: run_id, entity_id, counts — no raw field values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52928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71216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CloudWatch Metrics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45536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Custom namespace: record_count, latency_ms, quality_score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657600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675888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Run Audit Log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50208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Immutable DynamoDB record: start/end time, count, outcome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62272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480560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Schema Drift Alerts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Drift report to S3; CloudWatch alarm on breaking change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266944"/>
            <a:ext cx="201168" cy="59436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285232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56082"/>
                </a:solidFill>
                <a:latin typeface="Open Sauce Bold"/>
              </a:rPr>
              <a:t>Quality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559552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Completeness + null rate per field after each transformation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1664208"/>
            <a:ext cx="4343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97132"/>
                </a:solidFill>
                <a:latin typeface="Open Sauce Bold"/>
              </a:rPr>
              <a:t>Reliability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048256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32120" y="2066544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Step Functions Retries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32120" y="2340864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Automatic retry with exponential backoff + jitter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57800" y="2852928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32120" y="2871216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Dead-Letter Queue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145536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Unrecoverable failures → SQS DLQ for replay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57800" y="3657600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3675888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Circuit Breaker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950208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DynamoDB-backed — stops hammering broken sources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57800" y="4462272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4480560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State Machine Guards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4754880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IsNull checks prevent 0-record extractions cascading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5266944"/>
            <a:ext cx="201168" cy="5943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5285232"/>
            <a:ext cx="4050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E97132"/>
                </a:solidFill>
                <a:latin typeface="Open Sauce Bold"/>
              </a:rPr>
              <a:t>Idempotency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5559552"/>
            <a:ext cx="40507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Re-running same pipeline = identical output — safe to replay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Infrastructure &amp; DevOps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Terraform-managed  ·  Environment-parity  ·  One Lambda zip for all four functions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664208"/>
            <a:ext cx="12700" cy="4709160"/>
          </a:xfrm>
          <a:prstGeom prst="rect">
            <a:avLst/>
          </a:prstGeom>
          <a:solidFill>
            <a:srgbClr val="D0D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43434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56082"/>
                </a:solidFill>
                <a:latin typeface="Open Sauce Bold"/>
              </a:rPr>
              <a:t>Infrastructure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Terraform ≥ 1.8 — full infrastructure as code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Modules: iam · storage · networking · lambda · orchestration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Remote state: S3 + DynamoDB lock (single-writer safety)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3 environments: dev / staging / prod — same config, different tfvars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New env: init → apply iam → apply lambdas → apply orchestration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Single Lambda zip serves all 4 functions (different handlers)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Build: make lambda-package  →  Upload: make lambda-upload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664208"/>
            <a:ext cx="43434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E97132"/>
                </a:solidFill>
                <a:latin typeface="Open Sauce Bold"/>
              </a:rPr>
              <a:t>Developer Experience &amp; CI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Python 3.14, hatchling build system, pyproject.toml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Tests: pytest + moto (AWS mocks — no real AWS calls)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Lint: ruff  ·  Types: mypy  ·  Security: bandit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Dependency CVE scan: pip-audit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Coverage gate: 80% — enforced in CI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Local dry-run scripts — test connectivity, no S3 write</a:t>
            </a:r>
          </a:p>
          <a:p>
            <a:pPr algn="l"/>
            <a:r>
              <a:rPr sz="1250">
                <a:solidFill>
                  <a:srgbClr val="222222"/>
                </a:solidFill>
                <a:latin typeface="Open Sauce"/>
              </a:rPr>
              <a:t>•  CI: lint → type-check → test → security (one command)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Live Data — Dev Environment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Real business data flowing end-to-end  ·  as of July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447800" cy="178308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35,971+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Contracts
(MySQL RDS)</a:t>
            </a:r>
          </a:p>
        </p:txBody>
      </p:sp>
      <p:sp>
        <p:nvSpPr>
          <p:cNvPr id="9" name="Rectangle 8"/>
          <p:cNvSpPr/>
          <p:nvPr/>
        </p:nvSpPr>
        <p:spPr>
          <a:xfrm>
            <a:off x="2042160" y="1664208"/>
            <a:ext cx="1447800" cy="178308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216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4216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Companies
(Salesforce)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1400" y="1664208"/>
            <a:ext cx="1447800" cy="1783080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140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49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140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Persons
(Salesforce)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1664208"/>
            <a:ext cx="1447800" cy="1783080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Sources
connected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59880" y="1664208"/>
            <a:ext cx="1447800" cy="178308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988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&lt; 4 hrs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5988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End-to-end
latency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99120" y="1664208"/>
            <a:ext cx="1447800" cy="1783080"/>
          </a:xfrm>
          <a:prstGeom prst="rect">
            <a:avLst/>
          </a:prstGeom>
          <a:solidFill>
            <a:srgbClr val="4EA7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9120" y="1773936"/>
            <a:ext cx="1447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Open Sauce Bold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9120" y="2670048"/>
            <a:ext cx="1447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EEEEE"/>
                </a:solidFill>
                <a:latin typeface="Open Sauce"/>
              </a:rPr>
              <a:t>Mapping
failures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02736"/>
            <a:ext cx="242316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3657600"/>
            <a:ext cx="2331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Entity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26080" y="3602736"/>
            <a:ext cx="160020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90088" y="3657600"/>
            <a:ext cx="1508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Load type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26280" y="3602736"/>
            <a:ext cx="137160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90288" y="36576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Records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97880" y="3602736"/>
            <a:ext cx="2560320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61888" y="365760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Athena table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58200" y="3602736"/>
            <a:ext cx="621792" cy="32918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22208" y="3657600"/>
            <a:ext cx="53035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Open Sauce Bold"/>
              </a:rPr>
              <a:t>Status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931920"/>
            <a:ext cx="2423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3986784"/>
            <a:ext cx="2331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MySQL — Contracts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3931920"/>
            <a:ext cx="1600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90088" y="398678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 (SCD1)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6280" y="3931920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90288" y="398678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35,971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97880" y="3931920"/>
            <a:ext cx="25603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61888" y="398678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dev_edl_analytics.contract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58200" y="3931920"/>
            <a:ext cx="62179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22208" y="3986784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34256"/>
            <a:ext cx="242316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6928" y="4389120"/>
            <a:ext cx="2331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Salesforce Account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926080" y="4334256"/>
            <a:ext cx="16002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90088" y="4389120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Full load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26280" y="4334256"/>
            <a:ext cx="13716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0288" y="4389120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34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97880" y="4334256"/>
            <a:ext cx="25603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61888" y="4389120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dev_edl_analytics.company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58200" y="4334256"/>
            <a:ext cx="621792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522208" y="4389120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736592"/>
            <a:ext cx="2423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791456"/>
            <a:ext cx="2331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Salesforce Contact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926080" y="4736592"/>
            <a:ext cx="1600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990088" y="4791456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4736592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90288" y="4791456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49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97880" y="4736592"/>
            <a:ext cx="25603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61888" y="4791456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dev_edl_analytics.person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58200" y="4736592"/>
            <a:ext cx="62179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22208" y="4791456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138928"/>
            <a:ext cx="242316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6928" y="5193792"/>
            <a:ext cx="2331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Sage Intacct Customer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926080" y="5138928"/>
            <a:ext cx="16002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990088" y="5193792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526280" y="5138928"/>
            <a:ext cx="13716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90288" y="5193792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Live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97880" y="5138928"/>
            <a:ext cx="25603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61888" y="5193792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dev_edl_analytics.company (merged)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458200" y="5138928"/>
            <a:ext cx="621792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22208" y="5193792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" y="5541264"/>
            <a:ext cx="242316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5596128"/>
            <a:ext cx="2331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Sage Intacct Vendor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926080" y="5541264"/>
            <a:ext cx="16002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0088" y="5596128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526280" y="5541264"/>
            <a:ext cx="137160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90288" y="5596128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Live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97880" y="5541264"/>
            <a:ext cx="25603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61888" y="5596128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Curated layer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458200" y="5541264"/>
            <a:ext cx="621792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522208" y="5596128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96B24"/>
                </a:solidFill>
                <a:latin typeface="Open Sauce"/>
              </a:rPr>
              <a:t>✅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5943600"/>
            <a:ext cx="242316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" y="5998464"/>
            <a:ext cx="2331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NetSuite — Customer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2926080" y="5943600"/>
            <a:ext cx="16002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990088" y="5998464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Incremental (SCD1)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526280" y="5943600"/>
            <a:ext cx="137160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590288" y="5998464"/>
            <a:ext cx="1280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Built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897880" y="5943600"/>
            <a:ext cx="2560320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961888" y="5998464"/>
            <a:ext cx="2468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dev_edl_analytics.company (ready)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458200" y="5943600"/>
            <a:ext cx="621792" cy="384048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522208" y="5998464"/>
            <a:ext cx="53035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2222"/>
                </a:solidFill>
                <a:latin typeface="Open Sauce"/>
              </a:rPr>
              <a:t>🔲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02920" y="58064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66666"/>
                </a:solidFill>
                <a:latin typeface="Open Sauce"/>
              </a:rPr>
              <a:t>Athena workgroup: dev-edl-analytics  ·  Database: dev_edl_analytics  ·  Account: 087972550871 / us-east-1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Business Outcomes &amp; ROI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Measurable improvements delivered — compared to before the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3017520" cy="365760"/>
          </a:xfrm>
          <a:prstGeom prst="rect">
            <a:avLst/>
          </a:prstGeom>
          <a:solidFill>
            <a:srgbClr val="383E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2880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40" y="1664208"/>
            <a:ext cx="2788920" cy="365760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73736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Before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664208"/>
            <a:ext cx="3429000" cy="365760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73736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After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29968"/>
            <a:ext cx="3017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093976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Time to data availability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20440" y="2029968"/>
            <a:ext cx="27889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80" y="2093976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24–72 hours (manual)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2029968"/>
            <a:ext cx="34290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09397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1–4 hours (automated)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50592"/>
            <a:ext cx="30175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514600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Customer identity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20440" y="2450592"/>
            <a:ext cx="27889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2514600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3 disconnected views per system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2450592"/>
            <a:ext cx="342900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51460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Single golden record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71216"/>
            <a:ext cx="3017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935224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PII in analytics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2871216"/>
            <a:ext cx="27889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11880" y="293522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Uncontrolled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2871216"/>
            <a:ext cx="34290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293522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Masked at pipeline level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291840"/>
            <a:ext cx="30175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3355848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Audit trail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20440" y="3291840"/>
            <a:ext cx="27889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11880" y="3355848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None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291840"/>
            <a:ext cx="342900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35584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Full lineage: source→golden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712464"/>
            <a:ext cx="3017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4360" y="3776472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New source onboarding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520440" y="3712464"/>
            <a:ext cx="27889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11880" y="3776472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2–4 weeks (code + deploy)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09360" y="3712464"/>
            <a:ext cx="34290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377647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2–3 days (config only)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33088"/>
            <a:ext cx="30175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4197096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Credential security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520440" y="4133088"/>
            <a:ext cx="27889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11880" y="4197096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Scripts + shared .env files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4133088"/>
            <a:ext cx="342900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419709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AWS Secrets Manager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553712"/>
            <a:ext cx="30175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4360" y="4617720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Compliance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20440" y="4553712"/>
            <a:ext cx="278892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11880" y="4617720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Manual documentation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309360" y="4553712"/>
            <a:ext cx="34290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0" y="46177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Automated lineage + retention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974336"/>
            <a:ext cx="30175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94360" y="5038344"/>
            <a:ext cx="2880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Data quality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520440" y="4974336"/>
            <a:ext cx="278892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11880" y="5038344"/>
            <a:ext cx="2651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No monitoring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09360" y="4974336"/>
            <a:ext cx="3429000" cy="420624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00800" y="5038344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22222"/>
                </a:solidFill>
                <a:latin typeface="Open Sauce"/>
              </a:rPr>
              <a:t>Report per entity per run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468112"/>
            <a:ext cx="9235440" cy="109728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5559552"/>
            <a:ext cx="9006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AWS Infrastructure: ~$469/month  ·  vs. Fivetran SaaS: $3,000–$5,000/month per source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0080" y="5888736"/>
            <a:ext cx="9006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66666"/>
                </a:solidFill>
                <a:latin typeface="Open Sauce"/>
              </a:rPr>
              <a:t>Payback: &lt; 1 month  ·  Plus 40–60 hrs/month avoided labour cost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0080" y="6217920"/>
            <a:ext cx="9006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97132"/>
                </a:solidFill>
                <a:latin typeface="Open Sauce Bold"/>
              </a:rPr>
              <a:t>10× cost saving vs. SaaS — with full ownership and control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Technology Stack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Purpose-built on proven AWS-native services and open standards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1447800" cy="4828032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Runtime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57607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Python 3.14 — AWS Lambda
PyArrow — Parquet I/O
Pydantic — config validation
boto3 — AWS SDK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87880" y="1664208"/>
            <a:ext cx="1447800" cy="4828032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760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Orchestration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6103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9760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AWS Step Functions
Amazon EventBridge
AWS Lambda (4 fn, 1 zip)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72840" y="1664208"/>
            <a:ext cx="1447800" cy="4828032"/>
          </a:xfrm>
          <a:prstGeom prst="rect">
            <a:avLst/>
          </a:prstGeom>
          <a:solidFill>
            <a:srgbClr val="6A3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8256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Storage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4599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8256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Amazon S3 (3 data layers)
Amazon DynamoDB (3 tables)
AWS Glue Data Catalog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57800" y="1664208"/>
            <a:ext cx="1447800" cy="4828032"/>
          </a:xfrm>
          <a:prstGeom prst="rect">
            <a:avLst/>
          </a:prstGeom>
          <a:solidFill>
            <a:srgbClr val="C05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Analytics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3095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6752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Amazon Athena (SQL queries)
AWS Lake Formation
Apache Parquet (columnar)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42760" y="1664208"/>
            <a:ext cx="1447800" cy="4828032"/>
          </a:xfrm>
          <a:prstGeom prst="rect">
            <a:avLst/>
          </a:prstGeom>
          <a:solidFill>
            <a:srgbClr val="C0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5248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Security &amp; Ops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1591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5248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AWS Secrets Manager
AWS IAM (least-privilege)
Amazon CloudWatch
Amazon SQS (dead-letter)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27720" y="1664208"/>
            <a:ext cx="1447800" cy="4828032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37448" y="1773936"/>
            <a:ext cx="12649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DevOps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00872" y="2249424"/>
            <a:ext cx="1301496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37448" y="2359152"/>
            <a:ext cx="1264920" cy="3950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EEEEE"/>
                </a:solidFill>
                <a:latin typeface="Open Sauce"/>
              </a:rPr>
              <a:t>Terraform ≥ 1.8 (IaC)
pytest + moto (testing)
ruff + mypy + bandit
GitHub (source control)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92354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383E48"/>
                </a:solidFill>
                <a:latin typeface="Open Sauce Bold"/>
              </a:rPr>
              <a:t>What's Next —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188720"/>
            <a:ext cx="9326880" cy="254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61872"/>
            <a:ext cx="9235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56082"/>
                </a:solidFill>
                <a:latin typeface="Open Sauce"/>
              </a:rPr>
              <a:t>Dev is live  ·  Staging and Production are the immediate priorities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64208"/>
            <a:ext cx="2205990" cy="384048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Now — Dev 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196B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" y="2167128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All 4 Lambda stages live &amp; tested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754956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4 sources live: Salesforce, MySQL, Sage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" y="3342785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NetSuite connector code-complete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3930613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35,971+ records in analytics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" y="4518442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Athena SQL queries operational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" y="5106270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SCD Type 1 merge deployed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5694099"/>
            <a:ext cx="2023110" cy="5329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Entity resolution: golden records live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91790" y="1664208"/>
            <a:ext cx="2205990" cy="384048"/>
          </a:xfrm>
          <a:prstGeom prst="rect">
            <a:avLst/>
          </a:prstGeom>
          <a:solidFill>
            <a:srgbClr val="FFA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8323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Next — Staging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9179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FFA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01518" y="2167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Provision staging DynamoDB tables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1518" y="28529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Terraform: iam → lambdas → orchestration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01518" y="35387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Upload Lambda zip to staging 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1518" y="42245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Seed entity configs to staging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01518" y="49103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End-to-end smoke test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01518" y="5596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Staging sign-off before prod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80660" y="1664208"/>
            <a:ext cx="2205990" cy="384048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10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Soon — Production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8066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1560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0388" y="2167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Prod infrastructure provisioning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0388" y="28529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365-day log retention (in HCL already)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90388" y="35387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Credential rotation policy enabled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90388" y="42245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Monitoring dashboards + alerts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0388" y="49103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Business data quality sign-off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0388" y="5596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Go-live readiness checklist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669530" y="1664208"/>
            <a:ext cx="2205990" cy="38404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60970" y="1719072"/>
            <a:ext cx="205968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pen Sauce Bold"/>
              </a:rPr>
              <a:t>Backlog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669530" y="2048256"/>
            <a:ext cx="2205990" cy="4233672"/>
          </a:xfrm>
          <a:prstGeom prst="rect">
            <a:avLst/>
          </a:prstGeom>
          <a:solidFill>
            <a:srgbClr val="F8F8F8"/>
          </a:solidFill>
          <a:ln w="12700">
            <a:solidFill>
              <a:srgbClr val="E971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9258" y="2167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NetSuite — activate credentials &amp; go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9258" y="28529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Sage X3 entity resolution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9258" y="35387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Sage Intacct AR Invoice / AP Bill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9258" y="42245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Lambda timeout circuit breaker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9258" y="49103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value_map transform for booleans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9258" y="5596128"/>
            <a:ext cx="202311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22222"/>
                </a:solidFill>
                <a:latin typeface="Open Sauce"/>
              </a:rPr>
              <a:t>▸  Serving store loader (write-back)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gradient_str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0"/>
            <a:ext cx="222199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84048"/>
            <a:ext cx="8686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383E48"/>
                </a:solidFill>
                <a:latin typeface="Open Sauce Bold"/>
              </a:rPr>
              <a:t>A Platform Built
for the Long Term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2103120"/>
            <a:ext cx="9326880" cy="38100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240280"/>
            <a:ext cx="292608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2276856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286000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Automated, end-to-end pipeline — running in the dev environment today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807208"/>
            <a:ext cx="292608" cy="42062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843784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852928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Five source connectors — four live, NetSuite code-complete and ready to activate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74136"/>
            <a:ext cx="292608" cy="42062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410712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3419856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Entity resolution delivering one golden record per customer across all systems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41064"/>
            <a:ext cx="292608" cy="420624"/>
          </a:xfrm>
          <a:prstGeom prst="rect">
            <a:avLst/>
          </a:prstGeom>
          <a:solidFill>
            <a:srgbClr val="0F9E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7764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" y="3986784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Governed by design: lineage, PII masking, classification, retention built 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07992"/>
            <a:ext cx="292608" cy="420624"/>
          </a:xfrm>
          <a:prstGeom prst="rect">
            <a:avLst/>
          </a:prstGeom>
          <a:solidFill>
            <a:srgbClr val="15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544568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" y="4553712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Queryable in standard SQL via Amazon Athena — no exports, no waiting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074920"/>
            <a:ext cx="292608" cy="420624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111496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968" y="5120640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Infrastructure as code — reproducible across dev, staging, and production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641848"/>
            <a:ext cx="292608" cy="420624"/>
          </a:xfrm>
          <a:prstGeom prst="rect">
            <a:avLst/>
          </a:prstGeom>
          <a:solidFill>
            <a:srgbClr val="196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5678424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Open Sauce"/>
              </a:rPr>
              <a:t>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" y="5687568"/>
            <a:ext cx="868680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22222"/>
                </a:solidFill>
                <a:latin typeface="Open Sauce"/>
              </a:rPr>
              <a:t>10× lower cost than SaaS alternatives — with full ownership and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9235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66666"/>
                </a:solidFill>
                <a:latin typeface="Open Sauce"/>
              </a:rPr>
              <a:t>Enterprise Data Lake Platform  ·  Platform Engineering  · 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