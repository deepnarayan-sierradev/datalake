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943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83E48"/>
                </a:solidFill>
                <a:latin typeface="Open Sauce Bold"/>
              </a:rPr>
              <a:t>Enterprise Data Lake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6082"/>
                </a:solidFill>
                <a:latin typeface="Open Sauce"/>
              </a:rPr>
              <a:t>Automated  ·  Metadata-Driven  ·  Cloud-Native  ·  Governed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5915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Open Sauce"/>
              </a:rPr>
              <a:t>A unified platform connecting Salesforce CRM, MySQL RDS, and Sage ERP
into a single trusted, analytics-ready data foundation — built on AWS.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429000"/>
            <a:ext cx="2514600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Dev  ✅ 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3429000"/>
            <a:ext cx="2514600" cy="42062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Staging  🔲  Next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3429000"/>
            <a:ext cx="2514600" cy="420624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Production  🔲  Planned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Platform Engineering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The Problem We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Data lived in silos — disconnected, delayed, and insecure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4028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64208"/>
            <a:ext cx="224028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What it held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664208"/>
            <a:ext cx="214884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Who used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64208"/>
            <a:ext cx="260604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Pain 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299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93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Salesforce CRM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0299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093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Accounts &amp; contacts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202996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093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Sales, 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029968"/>
            <a:ext cx="2606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0939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Manual exports; no 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4871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5511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MySQL 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4871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5511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Contracts &amp;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2487168"/>
            <a:ext cx="21488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5511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Operations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2487168"/>
            <a:ext cx="26060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25511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24–72 hr delay; brittle scripts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443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0083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Sage Intacct/X3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9443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0083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AR/AP invoices, vendors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94436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30083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Finance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2944368"/>
            <a:ext cx="2606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30083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Disconnected from CRM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4015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4655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All systems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4015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34655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Credentials stored in scripts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83480" y="3401568"/>
            <a:ext cx="21488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34655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Engineering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3401568"/>
            <a:ext cx="26060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34655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Security risk, no rotation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587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9227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All systems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8587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39227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Same customer = 3 records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385876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39227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Analytics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3858768"/>
            <a:ext cx="2606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39227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 single source of truth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389120"/>
            <a:ext cx="9235440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462272"/>
            <a:ext cx="9006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Result: stale data  ·  no audit trail  ·  no single source of truth  ·  weeks to onboard any new data source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4974336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020056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24–72 hr delay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81912" y="51572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10512" y="4974336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56232" y="5020056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1–4 hr automated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88920" y="4974336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40" y="5020056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3 disconnected 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67912" y="51572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96512" y="4974336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42232" y="5020056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1 golden record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4920" y="4974336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0" y="5020056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No audit trail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53912" y="51572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82512" y="4974336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28232" y="5020056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Full lineage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60920" y="4974336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06640" y="5020056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Credentials in scripts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39912" y="51572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68512" y="4974336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14232" y="5020056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AWS Secrets Manager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A fully automated, metadata-driven data lake on AWS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40280" cy="416966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Multi-Source
Connectors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Salesforce  ·  MySQL RDS
Sage Intacct  ·  Sage X3
OAuth 2.0 / REST / JWT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664208"/>
            <a:ext cx="2240280" cy="416966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4-Stage
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351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359152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Extract  →  Transform
→  Resolve  →  Publish
AWS Step 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664208"/>
            <a:ext cx="2240280" cy="4169664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Entity
Resolution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095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2359152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One golden record per
customer across all
source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664208"/>
            <a:ext cx="2240280" cy="41696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Governed
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4968" y="2359152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SQL via Athena
PII masking  ·  Lineage
Quality report per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43600"/>
            <a:ext cx="9235440" cy="62179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4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connected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35,971+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records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6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0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to add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&lt; 4 hrs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end-to-end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~$469/mo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AWS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Event-driven  ·  Serverless  ·  Three governed data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9235440" cy="658368"/>
          </a:xfrm>
          <a:prstGeom prst="rect">
            <a:avLst/>
          </a:prstGeom>
          <a:solidFill>
            <a:srgbClr val="E3EEF8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28216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082"/>
                </a:solidFill>
                <a:latin typeface="Open Sauce Bold"/>
              </a:rPr>
              <a:t>SOURCE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02536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Salesforce CRM  ·  MySQL RDS  ·  Sage Intacct  ·  Sage X3  ·  (NetSuite — roadmap)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9235440" cy="658368"/>
          </a:xfrm>
          <a:prstGeom prst="rect">
            <a:avLst/>
          </a:prstGeom>
          <a:solidFill>
            <a:srgbClr val="F3ECFF"/>
          </a:solidFill>
          <a:ln w="19050">
            <a:solidFill>
              <a:srgbClr val="6A3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4144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FC0"/>
                </a:solidFill>
                <a:latin typeface="Open Sauce Bold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15768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Amazon EventBridge Scheduler  →  AWS Step Functions state machine  ·  DynamoDB (config, watermark, audit log)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90672"/>
            <a:ext cx="2956560" cy="2331720"/>
          </a:xfrm>
          <a:prstGeom prst="rect">
            <a:avLst/>
          </a:prstGeom>
          <a:solidFill>
            <a:srgbClr val="E8F5E9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154680"/>
            <a:ext cx="277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6B24"/>
                </a:solidFill>
                <a:latin typeface="Open Sauce Bold"/>
              </a:rPr>
              <a:t>RAW LAYER  (S3)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474720"/>
            <a:ext cx="277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Immutable, append-only
Parquet + S3 Object Lock
Hive-partitioned by date
Schema snapshots + drift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42360" y="3090672"/>
            <a:ext cx="2956560" cy="2331720"/>
          </a:xfrm>
          <a:prstGeom prst="rect">
            <a:avLst/>
          </a:prstGeom>
          <a:solidFill>
            <a:srgbClr val="F3ECFF"/>
          </a:solidFill>
          <a:ln w="19050">
            <a:solidFill>
              <a:srgbClr val="6A3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2088" y="3154680"/>
            <a:ext cx="277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FC0"/>
                </a:solidFill>
                <a:latin typeface="Open Sauce Bold"/>
              </a:rPr>
              <a:t>CURATED LAYER  (S3)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2088" y="3474720"/>
            <a:ext cx="277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Field-mapped (v1.json)
Quality-evaluated
PII masked · SCD Type 1
Canonical column names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1800" y="3090672"/>
            <a:ext cx="2956560" cy="2331720"/>
          </a:xfrm>
          <a:prstGeom prst="rect">
            <a:avLst/>
          </a:prstGeom>
          <a:solidFill>
            <a:srgbClr val="FFF3E8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1528" y="3154680"/>
            <a:ext cx="277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132"/>
                </a:solidFill>
                <a:latin typeface="Open Sauce Bold"/>
              </a:rPr>
              <a:t>ANALYTICS LAYER  (S3 + Glue)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1528" y="3474720"/>
            <a:ext cx="277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Golden records
Athena-queryable tables
Partitioned by analytics_date
Lake Formation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6328" y="4055364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7132"/>
                </a:solidFill>
                <a:latin typeface="Open Sauce Bold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768" y="4055364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7132"/>
                </a:solidFill>
                <a:latin typeface="Open Sauce Bold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532120"/>
            <a:ext cx="2205990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5577840"/>
            <a:ext cx="209626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uce Bold"/>
              </a:rPr>
              <a:t>Lambda 1
Extraction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6070" y="5532120"/>
            <a:ext cx="2205990" cy="594360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19222" y="5577840"/>
            <a:ext cx="209626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uce Bold"/>
              </a:rPr>
              <a:t>Lambda 2
Transformation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89220" y="5532120"/>
            <a:ext cx="2205990" cy="59436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2372" y="5577840"/>
            <a:ext cx="209626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uce Bold"/>
              </a:rPr>
              <a:t>Lambda 3
Entity Resolution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32370" y="5532120"/>
            <a:ext cx="2205990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5522" y="5577840"/>
            <a:ext cx="209626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uce Bold"/>
              </a:rPr>
              <a:t>Lambda 4
Analytics Publisher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Data Source Connectors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Pluggable adapter pattern — add a new source without changing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764792" cy="473659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Salesforce CRM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5819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OAuth 2.0 client_credentials
Bulk API 2.0 (async CSV)
Entities: Account, Contact
Watermark: SystemModstamp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2" y="1664208"/>
            <a:ext cx="1764792" cy="473659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MySQL 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78024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834640"/>
            <a:ext cx="15819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AWS Secrets Manager creds
VPC + NAT Gateway
Entity: Contracts (incremental)
Watermark: ModifiedOn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664208"/>
            <a:ext cx="1764792" cy="4736592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Sage Intacct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834640"/>
            <a:ext cx="15819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REST API, OAuth 2.0
Entities: Customer, Vendor,
AR Invoice, AP Bill
Watermark: auditInfo.modifiedAt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664208"/>
            <a:ext cx="1764792" cy="473659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Sage X3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1928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834640"/>
            <a:ext cx="15819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REST API, OAuth 2.0
Entities: Customer, Supplier
Same SageConnector adapter
Watermark incremental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0728" y="1664208"/>
            <a:ext cx="1764792" cy="4736592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3E48"/>
                </a:solidFill>
                <a:latin typeface="Open Sauce"/>
              </a:rPr>
              <a:t>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3E48"/>
                </a:solidFill>
                <a:latin typeface="Open Sauce Bold"/>
              </a:rPr>
              <a:t>NetSuite ERP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2724912"/>
            <a:ext cx="1618488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2834640"/>
            <a:ext cx="15819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Open Sauce"/>
              </a:rPr>
              <a:t>OAuth 1.0a token-based
Future — config only
No code change needed
Credentials pre-reserved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19088"/>
            <a:ext cx="9235440" cy="34747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9006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pen Sauce Bold"/>
              </a:rPr>
              <a:t>All connectors implement ExtractionConnector  ·  3 methods to register a new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Pipeline Stage 1 —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Source systems  →  S3 Raw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309067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Processing Steps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Config from DynamoDB: entity_id, load_type, watermark_field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Credentials from Secrets Manager — never in code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Metadata discovery validates schema before querying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Query: full load  or  incremental (watermark window)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Records streamed one-at-a-time — no large memory use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Schema snapshot saved to S3 after each extraction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Drift detection: added / removed / type-changed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Reliability &amp; Security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Circuit breaker (DynamoDB-backed) — stops broken sources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Exponential backoff + jitter on transient errors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Dead-letter queue (SQS) for replay on failures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First-run incremental: epoch (1970) lower bound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S3 Object Lock on raw layer — immutable audit trail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IAM least-privilege scoped to exact S3 prefixes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Run audit log entry written to DynamoDB per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907023"/>
            <a:ext cx="9235440" cy="5120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61887"/>
            <a:ext cx="9006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082"/>
                </a:solidFill>
                <a:latin typeface="Courier New"/>
              </a:rPr>
              <a:t>S3 path:  s3://dev-edl-raw-layer/raw/{source_id}/{entity_id}/extraction_date=YYYY-MM-DD/part-NNNNN.parquet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Pipeline Stage 2 —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Raw Layer  →  Curated Layer  (canonical, quality-checked, PII masked)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309067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Processing Steps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Reads Parquet from raw layer — streaming, no full load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Field mapping: source → canonical names (v1.json)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Transforms: CAST · CONCAT · DATE_FORMAT · DIRECT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Missing field: raise_error / use_default / drop_field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Quality check: completeness, null rate, type conformance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PII masking applied before curated write — never skipped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SCD Type 1 merge: partition = full current state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Lineage record emitted for every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Configuration (no code needed)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Mappings stored in S3 (curated bucket) — version-controlled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Path: config/field_mappings/{source}/{entity}/v1.json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No code change to add a mapping — upload JSON + re-run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primary_key_field → upsert merge; absent = append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soft_delete_field → tombstone (is_deleted flag)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Quality thresholds configurable per entity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Output: curated_date=YYYY-MM-DD/run_id=.../data.parquet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907023"/>
            <a:ext cx="9235440" cy="5120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61887"/>
            <a:ext cx="9006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082"/>
                </a:solidFill>
                <a:latin typeface="Courier New"/>
              </a:rPr>
              <a:t>{ "source_fields":["AnnualRevenue"], "target_field":"annual_revenue", "transformation":"CAST", "type":"decimal", "missing_field_behavior":"use_default", "default_value":"0"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Pipeline Stage 3 — Entity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Cross-source deduplication  →  one Golden Record per real-world 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971800" cy="187451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55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Salesforce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176272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account_id
account_name
billing_country
is_active · annual_revenue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664208"/>
            <a:ext cx="2971800" cy="187451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1755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Sage Intacct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2176272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customer_id
company_name
credit_limit
outstanding_balance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664208"/>
            <a:ext cx="2971800" cy="1874519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755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Sage X3 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2176272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customer_code
customer_name
country_code
account_manager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762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97132"/>
                </a:solidFill>
                <a:latin typeface="Open Sauce Bold"/>
              </a:rPr>
              <a:t>⬇  MATCH &amp; MERGE  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59936"/>
            <a:ext cx="9372600" cy="1325880"/>
          </a:xfrm>
          <a:prstGeom prst="rect">
            <a:avLst/>
          </a:prstGeom>
          <a:solidFill>
            <a:srgbClr val="FFF8F0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330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132"/>
                </a:solidFill>
                <a:latin typeface="Open Sauce Bold"/>
              </a:rPr>
              <a:t>🏆  GOLDEN RECORD  —  company 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98848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entity_id  ·  account_name  ·  annual_revenue (Salesforce preferred)  ·  credit_limit (Sage preferred)  ·  outstanding_balance  ·  is_active
Survivorship policy: configurable field-level source preference per entity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58968"/>
            <a:ext cx="9372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Blocking + fuzzy name matching — configurable per entity type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Survivorship: preferred source per field (Salesforce → is_active; Sage → credit_limit)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Entity types: company  ·  person  ·  contract  —  extensible via config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Output → s3://dev-edl-analytics-layer/canonical/{entity_type}/golden_date={date}/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Pipeline Stage 4 — Analytics Publisher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Golden Records  →  Athena-queryable partitioned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4343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6082"/>
                </a:solidFill>
                <a:latin typeface="Open Sauce Bold"/>
              </a:rPr>
              <a:t>What it does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Reads golden records from analytics layer (canonical/ prefix)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Writes partitioned Parquet: analytics_date=YYYY-MM-DD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Registers Glue Data Catalog table (dev_edl_analytics)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Adds Hive partition for the run's analytics_date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Grants Lake Formation permissions to analytics users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CloudWatch metrics: record count, partition, latency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0" y="1664208"/>
            <a:ext cx="4572000" cy="4114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75564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082"/>
                </a:solidFill>
                <a:latin typeface="Open Sauce Bold"/>
              </a:rPr>
              <a:t>Query in Amazon Athena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671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-- All companies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728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SELECT * FROM dev_edl_analytics.company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786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  WHERE analytics_date='2026-07-02';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7843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9900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-- Active contracts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958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SELECT COUNT(*) FROM dev_edl_analytics.contract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015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  WHERE analytics_date='2026-07-02'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6073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  AND is_deleted = false;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8130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0187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-- Cross-entity 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245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SELECT c.account_name, COUNT(k.contract_id)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302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FROM dev_edl_analytics.company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6360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JOIN dev_edl_analytics.contract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8417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  ON c.account_id = k.tenant_id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0474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GROUP BY c.account_name;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2532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70448"/>
            <a:ext cx="9235440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943600"/>
            <a:ext cx="9006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Open Sauce Bold"/>
              </a:rPr>
              <a:t>Live today (dev):  34 companies  ·  49 persons  ·  35,971 contracts  — queryable via Athena right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Data Governance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Compliance built into the pipeline — not bolted on afterwards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40280" cy="298094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PII Masking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Applied at transformation — before curated write
Sensitive fields tokenised, never plain text
Policy version-controlled per entity
Non-optional — pipeline fails if policy missing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664208"/>
            <a:ext cx="2240280" cy="298094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Data Lineage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351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359152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Emitted for every run:
source → curated → golden record
Field count, run_id, entity_id, timestamp
Queryable via Athena or S3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664208"/>
            <a:ext cx="2240280" cy="2980944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Data 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095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2359152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Fields: PUBLIC / INTERNAL / CONFIDENTIAL / PII
Applied at source onboarding
Drives masking + retention rules
Registered in AWS Glue Catalog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664208"/>
            <a:ext cx="2240280" cy="298094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Retention 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4968" y="2359152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Configurable per classification tier
Raw: S3 Object Lock (immutable)
Curated/analytics: policy-enforced
Dev: 30-day; Prod: 365-day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9235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83E48"/>
                </a:solidFill>
                <a:latin typeface="Open Sauce Bold"/>
              </a:rPr>
              <a:t>Security Controls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All credentials via AWS Secrets Manager — never in code or logs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IAM least-privilege: roles scoped to exact S3 prefixes and DynamoDB tables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Only designated Lambda role can write to each S3 layer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All event inputs validated with regex (OWASP A03 injection prevention)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No record field values ever logged — counts/IDs only (OWASP A09)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Observability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Every run is measurable, traceable, and self-healing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470916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082"/>
                </a:solidFill>
                <a:latin typeface="Open Sauce Bold"/>
              </a:rPr>
              <a:t>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4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Structured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40864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JSON per stage: run_id, entity_id, counts — no raw field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52928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71216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CloudWatch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Custom namespace: record_count, latency_ms, quality_score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75888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Run Audit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5020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Immutable DynamoDB record: start/end time, count, outcome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62272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Schema Drift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Drift report to S3; CloudWatch alarm on breaking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66944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Quality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59552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Completeness + null rate per field after each transformation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6642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7132"/>
                </a:solidFill>
                <a:latin typeface="Open Sauce Bold"/>
              </a:rPr>
              <a:t>Reliability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048256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2066544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Step Functions Retries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340864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Automatic retry with exponential backoff + jitter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852928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871216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Dead-Letter 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145536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Unrecoverable failures → SQS DLQ for replay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3657600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3675888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Circuit Breaker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95020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DynamoDB-backed — stops hammering broken sources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4462272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4480560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State Machine Guards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754880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IsNull checks prevent 0-record extractions cascading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5266944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5285232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Idempotency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559552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Re-running same pipeline = identical output — safe to replay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Infrastructure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Terraform-managed  ·  Environment-parity  ·  One Lambda zip for all four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470916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Infrastructure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Terraform ≥ 1.8 — full infrastructure as code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Modules: iam · storage · networking · lambda · orchestration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Remote state: S3 + DynamoDB lock (single-writer safety)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3 environments: dev / staging / prod — same config, different tfvars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New env: init → apply iam → apply lambdas → apply orchestration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Single Lambda zip serves all 4 functions (different handlers)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Build: make lambda-package  →  Upload: make lambda-upload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Developer Experience &amp; CI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Python 3.14, hatchling build system, pyproject.toml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Tests: pytest + moto (AWS mocks — no real AWS calls)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Lint: ruff  ·  Types: mypy  ·  Security: bandit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Dependency CVE scan: pip-audit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Coverage gate: 80% — enforced in CI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Local dry-run scripts — test connectivity, no S3 write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CI: lint → type-check → test → security (one command)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Live Data — Dev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Real business data flowing end-to-end  ·  as of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447800" cy="178308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35,971+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Contracts
(MySQL RDS)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42160" y="1664208"/>
            <a:ext cx="1447800" cy="178308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216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216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Companies
(Salesforce)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1400" y="1664208"/>
            <a:ext cx="1447800" cy="178308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140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Persons
(Salesforce)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664208"/>
            <a:ext cx="1447800" cy="1783080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Sources
connected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9880" y="1664208"/>
            <a:ext cx="1447800" cy="178308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988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&lt; 4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988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End-to-end
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9120" y="1664208"/>
            <a:ext cx="1447800" cy="178308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912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912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Mapping
failures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02736"/>
            <a:ext cx="242316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65760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Entity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602736"/>
            <a:ext cx="160020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0088" y="365760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Load 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3602736"/>
            <a:ext cx="137160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3602736"/>
            <a:ext cx="256032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36576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Athena 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602736"/>
            <a:ext cx="621792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8" y="365760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931920"/>
            <a:ext cx="2423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986784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MySQL — Contracts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931920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0088" y="398678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Incremental (SCD1)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393192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398678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35,971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393192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61888" y="398678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dev_edl_analytics.contract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8200" y="3931920"/>
            <a:ext cx="62179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2208" y="3986784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334256"/>
            <a:ext cx="24231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4389120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Salesforce Account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4334256"/>
            <a:ext cx="16002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90088" y="438912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Full load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26280" y="4334256"/>
            <a:ext cx="13716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90288" y="438912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34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97880" y="4334256"/>
            <a:ext cx="25603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61888" y="438912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dev_edl_analytics.company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4334256"/>
            <a:ext cx="621792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2208" y="4389120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736592"/>
            <a:ext cx="2423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791456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Salesforce Contact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4736592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0088" y="479145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Incremental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26280" y="473659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90288" y="47914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49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7880" y="4736592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61888" y="479145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dev_edl_analytics.person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58200" y="4736592"/>
            <a:ext cx="62179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22208" y="4791456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138928"/>
            <a:ext cx="24231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51937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Sage Intacct Customer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26080" y="5138928"/>
            <a:ext cx="16002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90088" y="519379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Incremental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26280" y="5138928"/>
            <a:ext cx="13716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90288" y="51937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Live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97880" y="5138928"/>
            <a:ext cx="25603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61888" y="519379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dev_edl_analytics.company (merged)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58200" y="5138928"/>
            <a:ext cx="621792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22208" y="5193792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541264"/>
            <a:ext cx="2423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" y="5596128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Sage Intacct Vendor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26080" y="5541264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90088" y="5596128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Incremental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26280" y="554126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90288" y="559612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Live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97880" y="5541264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61888" y="559612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Curated layer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58200" y="5541264"/>
            <a:ext cx="62179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22208" y="5596128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58064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Open Sauce"/>
              </a:rPr>
              <a:t>Athena workgroup: dev-edl-analytics  ·  Database: dev_edl_analytics  ·  Account: 087972550871 / us-east-1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Business Outcomes &amp;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Measurable improvements delivered — compared to before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3017520" cy="365760"/>
          </a:xfrm>
          <a:prstGeom prst="rect">
            <a:avLst/>
          </a:prstGeom>
          <a:solidFill>
            <a:srgbClr val="38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664208"/>
            <a:ext cx="2788920" cy="3657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64208"/>
            <a:ext cx="3429000" cy="36576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29968"/>
            <a:ext cx="3017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93976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Time to data availability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029968"/>
            <a:ext cx="2788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9397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24–72 hours (manual)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29968"/>
            <a:ext cx="3429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9397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1–4 hours (automated)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50592"/>
            <a:ext cx="301752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14600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Customer identity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450592"/>
            <a:ext cx="278892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51460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3 disconnected views per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50592"/>
            <a:ext cx="34290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146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Single golden record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71216"/>
            <a:ext cx="3017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935224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PII in analytics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2871216"/>
            <a:ext cx="2788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293522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Uncontrolled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871216"/>
            <a:ext cx="3429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93522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Masked at pipeline level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291840"/>
            <a:ext cx="301752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355848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Audit trail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291840"/>
            <a:ext cx="278892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35584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291840"/>
            <a:ext cx="34290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35584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Full lineage: source→golden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712464"/>
            <a:ext cx="3017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776472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New source onboarding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3712464"/>
            <a:ext cx="2788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377647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2–4 weeks (code + deploy)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712464"/>
            <a:ext cx="3429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7764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2–3 days (config only)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33088"/>
            <a:ext cx="301752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197096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Credential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4133088"/>
            <a:ext cx="278892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419709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Scripts + shared .env files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133088"/>
            <a:ext cx="34290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9709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AWS Secrets Manager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553712"/>
            <a:ext cx="3017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617720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Compliance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40" y="4553712"/>
            <a:ext cx="2788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461772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Manual documentation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553712"/>
            <a:ext cx="3429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61772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Automated lineage + retention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974336"/>
            <a:ext cx="301752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038344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Data quality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40" y="4974336"/>
            <a:ext cx="278892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50383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 monitoring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4974336"/>
            <a:ext cx="34290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0383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Report per entity per run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468112"/>
            <a:ext cx="92354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559552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AWS Infrastructure: ~$469/month  ·  vs. Fivetran SaaS: $3,000–$5,000/month per source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888736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Open Sauce"/>
              </a:rPr>
              <a:t>Payback: &lt; 1 month  ·  Plus 40–60 hrs/month avoided labour cost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217920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7132"/>
                </a:solidFill>
                <a:latin typeface="Open Sauce Bold"/>
              </a:rPr>
              <a:t>10× cost saving vs. SaaS — with full ownership and control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Purpose-built on proven AWS-native services and open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447800" cy="482803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Python 3.14 — AWS Lambda
PyArrow — Parquet I/O
Pydantic — config validation
boto3 — AWS SDK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7880" y="1664208"/>
            <a:ext cx="1447800" cy="482803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760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103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760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AWS Step Functions
Amazon EventBridge
AWS Lambda (4 fn, 1 zip)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2840" y="1664208"/>
            <a:ext cx="1447800" cy="4828032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256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599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256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Amazon S3 (3 data layers)
Amazon DynamoDB (3 tables)
AWS Glue Data Catalog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1664208"/>
            <a:ext cx="1447800" cy="4828032"/>
          </a:xfrm>
          <a:prstGeom prst="rect">
            <a:avLst/>
          </a:prstGeom>
          <a:solidFill>
            <a:srgbClr val="C05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095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Amazon Athena (SQL queries)
AWS Lake Formation
Apache Parquet (columnar)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42760" y="1664208"/>
            <a:ext cx="1447800" cy="4828032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248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Security &amp; 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1591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248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AWS Secrets Manager
AWS IAM (least-privilege)
Amazon CloudWatch
Amazon SQS (dead-letter)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7720" y="1664208"/>
            <a:ext cx="1447800" cy="482803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744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DevOps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087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744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Terraform ≥ 1.8 (IaC)
pytest + moto (testing)
ruff + mypy + bandit
GitHub (source control)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What's Next —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Dev is live  ·  Staging and Production are the immediate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05990" cy="384048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Now — Dev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All 4 Lambda stages live &amp;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3 sources: Salesforce, MySQL, 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35,971+ records in analytics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Athena SQL queries operational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SCD Type 1 merge deployed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Entity resolution: golden records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1790" y="1664208"/>
            <a:ext cx="220599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Next — Staging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179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151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Provision staging DynamoDB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51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Terraform: iam → lambdas →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151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Upload Lambda zip to staging bucket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151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Seed entity configs to staging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151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End-to-end smoke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151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Staging sign-off before prod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80660" y="1664208"/>
            <a:ext cx="2205990" cy="38404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7210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Soon — Production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8066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038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Prod infrastructure provisioning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038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365-day log retention (in HCL already)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038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Credential rotation policy enabled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038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Monitoring dashboards +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038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Business data quality sign-off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038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Go-live readiness checklist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69530" y="1664208"/>
            <a:ext cx="2205990" cy="38404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6097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Backlog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6953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925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NetSuite ERP connector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925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Sage X3 entity resolution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925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Sage Intacct AR Invoice / AP Bill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925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Lambda timeout circuit breaker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925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value_map transform for booleans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925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Serving store loader (write-back)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83E48"/>
                </a:solidFill>
                <a:latin typeface="Open Sauce Bold"/>
              </a:rPr>
              <a:t>A Platform Built
for the Long 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103120"/>
            <a:ext cx="9326880" cy="38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292608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Automated, end-to-end pipeline — running in the dev environment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07208"/>
            <a:ext cx="292608" cy="42062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4378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5292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Four connected sources — extensible to any REST or SQL source via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74136"/>
            <a:ext cx="292608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10712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419856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Entity resolution delivering one golden record per customer across all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41064"/>
            <a:ext cx="292608" cy="42062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8678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Governed by design: lineage, PII masking, classification, retention built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07992"/>
            <a:ext cx="292608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4456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553712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Queryable in standard SQL via Amazon Athena — no exports, no waiting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74920"/>
            <a:ext cx="292608" cy="42062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12064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Infrastructure as code — reproducible across dev, staging, and production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41848"/>
            <a:ext cx="292608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67842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68756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10× lower cost than SaaS alternatives — with full ownership and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Platform Engineering  ·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