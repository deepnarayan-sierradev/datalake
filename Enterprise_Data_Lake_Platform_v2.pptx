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5943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83E48"/>
                </a:solidFill>
                <a:latin typeface="Open Sauce Bold"/>
              </a:rPr>
              <a:t>Enterprise Data Lake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56082"/>
                </a:solidFill>
                <a:latin typeface="Open Sauce"/>
              </a:rPr>
              <a:t>Automated  ·  Metadata-Driven  ·  Multi-Tenant  ·  Cloud-Native  ·  Governed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24028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Open Sauce"/>
              </a:rPr>
              <a:t>A unified, multi-tenant platform connecting Salesforce CRM, MySQL RDS, Sage ERP, and NetSuite ERP
into a single trusted, analytics-ready data foundation — built on AWS.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429000"/>
            <a:ext cx="2514600" cy="42062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Dev  ✅ 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3429000"/>
            <a:ext cx="2514600" cy="42062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Staging  🔲  Next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3429000"/>
            <a:ext cx="2514600" cy="420624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Production  🔲  Planned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Platform Engineering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The Problem We Solved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Data lived in silos — disconnected, delayed, and insecure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4028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664208"/>
            <a:ext cx="224028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37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What it held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1664208"/>
            <a:ext cx="214884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Who used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664208"/>
            <a:ext cx="260604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Pain 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93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Salesforce CRM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0299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2093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Accounts &amp; contacts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02996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2093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Sales, 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2029968"/>
            <a:ext cx="2606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093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Manual exports; no audit trail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5511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MySQL RDS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4871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25511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Contracts &amp; orders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80" y="2487168"/>
            <a:ext cx="21488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25511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Operations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2487168"/>
            <a:ext cx="26060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25511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24–72 hr delay; brittle scripts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443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0083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Sage Intacct/X3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9443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083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AR/AP invoices, vendors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80" y="294436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30083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Finance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2944368"/>
            <a:ext cx="2606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30083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Disconnected from CRM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015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4655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NetSuite ERP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4015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4640" y="34655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Customers, transactions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83480" y="3401568"/>
            <a:ext cx="21488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34655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Finance, 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3401568"/>
            <a:ext cx="26060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0" y="34655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Siloed from CRM &amp; Sage data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8587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9227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All systems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38587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34640" y="39227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Credentials stored in scripts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85876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4920" y="39227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Engineering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0" y="3858768"/>
            <a:ext cx="2606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0" y="39227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Security risk, no rotation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3159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4379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All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3159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4379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Same customer = 4 records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83480" y="4315968"/>
            <a:ext cx="21488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4379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Analytics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32320" y="4315968"/>
            <a:ext cx="26060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23760" y="4379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No single source of truth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4846320"/>
            <a:ext cx="9235440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4919472"/>
            <a:ext cx="9006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Result: stale data  ·  no audit trail  ·  no single source of truth  ·  weeks to onboard any new data source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24–72 hr delay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81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10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56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1–4 hr automated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88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4 disconnected views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96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42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1 golden record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74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20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No audit trail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53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82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28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Full lineage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60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06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Credentials in scripts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9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68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14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AWS Secrets Manager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A fully automated, metadata-driven, multi-tenant data lake on AWS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764792" cy="416966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73936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Multi-Source
Connectors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249424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1581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Salesforce  ·  MySQL RDS
Sage Intacct  ·  Sage X3  ·  NetSuite
OAuth 2.0 / REST / JWT / TBA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1664208"/>
            <a:ext cx="1764792" cy="4169664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773936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4-Stage
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78024" y="2249424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2359152"/>
            <a:ext cx="1581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Extract  →  Transform
→  Resolve  →  Publish
AWS Step Functions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6824" y="1664208"/>
            <a:ext cx="1764792" cy="4169664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1773936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Entity
Resolution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249424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2359152"/>
            <a:ext cx="1581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One golden record per
customer across all
source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1664208"/>
            <a:ext cx="1764792" cy="416966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773936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Governed
Analytics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2249424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2359152"/>
            <a:ext cx="1581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SQL via Athena
PII masking  ·  Lineage
Quality report per 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0728" y="1664208"/>
            <a:ext cx="1764792" cy="416966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1773936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Multi-Tenant
SaaS Platform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2249424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2359152"/>
            <a:ext cx="1581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Every layer isolated
by tenant_code  ·  self-service
onboarding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943600"/>
            <a:ext cx="9235440" cy="62179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5 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connected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95728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35,971+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95728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records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2816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0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42816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to add a source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&lt; 4 hrs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end-to-end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~$469/mo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36992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AWS cost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Event-driven  ·  Serverless  ·  Tenant-isolated data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9235440" cy="658368"/>
          </a:xfrm>
          <a:prstGeom prst="rect">
            <a:avLst/>
          </a:prstGeom>
          <a:solidFill>
            <a:srgbClr val="E3EEF8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2821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082"/>
                </a:solidFill>
                <a:latin typeface="Open Sauce Bold"/>
              </a:rPr>
              <a:t>SOURCE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002536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Salesforce CRM  ·  MySQL RDS  ·  Sage Intacct  ·  Sage X3  ·  NetSuite ERP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9235440" cy="658368"/>
          </a:xfrm>
          <a:prstGeom prst="rect">
            <a:avLst/>
          </a:prstGeom>
          <a:solidFill>
            <a:srgbClr val="F3ECFF"/>
          </a:solidFill>
          <a:ln w="19050">
            <a:solidFill>
              <a:srgbClr val="6A3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441448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3FC0"/>
                </a:solidFill>
                <a:latin typeface="Open Sauce Bold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715768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Amazon EventBridge Scheduler  →  AWS Step Functions state machine  ·  DynamoDB (config, watermark, audit log)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2956560" cy="2331720"/>
          </a:xfrm>
          <a:prstGeom prst="rect">
            <a:avLst/>
          </a:prstGeom>
          <a:solidFill>
            <a:srgbClr val="E8F5E9"/>
          </a:solidFill>
          <a:ln w="1905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154680"/>
            <a:ext cx="277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96B24"/>
                </a:solidFill>
                <a:latin typeface="Open Sauce Bold"/>
              </a:rPr>
              <a:t>RAW LAYER  (S3)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74720"/>
            <a:ext cx="277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Immutable, append-only
Parquet + S3 Object Lock
Tenant-scoped, Hive-partitioned
Schema snapshots + drift reports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42360" y="3090672"/>
            <a:ext cx="2956560" cy="2331720"/>
          </a:xfrm>
          <a:prstGeom prst="rect">
            <a:avLst/>
          </a:prstGeom>
          <a:solidFill>
            <a:srgbClr val="F3ECFF"/>
          </a:solidFill>
          <a:ln w="19050">
            <a:solidFill>
              <a:srgbClr val="6A3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2088" y="3154680"/>
            <a:ext cx="277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3FC0"/>
                </a:solidFill>
                <a:latin typeface="Open Sauce Bold"/>
              </a:rPr>
              <a:t>CURATED LAYER 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2088" y="3474720"/>
            <a:ext cx="277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Field-mapped (v1.json)
Quality-evaluated
PII masked (always-on) · SCD Type 1
Tenant-scoped canonical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1800" y="3090672"/>
            <a:ext cx="2956560" cy="2331720"/>
          </a:xfrm>
          <a:prstGeom prst="rect">
            <a:avLst/>
          </a:prstGeom>
          <a:solidFill>
            <a:srgbClr val="FFF3E8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1528" y="3154680"/>
            <a:ext cx="277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7132"/>
                </a:solidFill>
                <a:latin typeface="Open Sauce Bold"/>
              </a:rPr>
              <a:t>ANALYTICS LAYER  (S3 + Glue)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1528" y="3474720"/>
            <a:ext cx="277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Golden records
Athena-queryable tables
Tenant-scoped, partitioned by date
Lake Formation access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6328" y="4055364"/>
            <a:ext cx="310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97132"/>
                </a:solidFill>
                <a:latin typeface="Open Sauce Bold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5768" y="4055364"/>
            <a:ext cx="310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97132"/>
                </a:solidFill>
                <a:latin typeface="Open Sauce Bold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532120"/>
            <a:ext cx="2205990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1
Extraction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46070" y="5532120"/>
            <a:ext cx="2205990" cy="594360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1922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2
Transformation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9220" y="5532120"/>
            <a:ext cx="2205990" cy="59436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237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3
Entity Resolution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2370" y="5532120"/>
            <a:ext cx="2205990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552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4
Analytics Publisher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Multi-Tenant Isolation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Every customer's data, kept apart — tenant_code threads through every layer, queue, and schedule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30906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What This Means for Customers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Each customer (tenant) gets its own data path in every layer — raw, curated, and golden records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One tenant's pipeline failure, retry, or schedule can never touch another tenant's data or runs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A missing or malformed tenant ID now fails the request — it never silently falls back to shared data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Entity types, watermarks, and run history are tracked per tenant, not shared globally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The default tenant ("demo") uses the exact same isolation path as any future customer — no special-casing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Hardened in This Release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Fixed: shared watermark keys, S3 write paths, and Glue catalog names that could let two tenants overwrite each other's data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Fixed: schedule names, circuit-breaker keys, and queue/execution IDs that could cross-contaminate between tenants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Fixed: PII masking now applies even to sources with no explicit field-mapping rules — no bypass by omission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Added: an automated cross-tenant isolation test suite, run in CI on every change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Open item: isolation is enforced by application logic today, not yet backed by IAM — the top remaining item before scaling to many tenants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07023"/>
            <a:ext cx="9235440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61887"/>
            <a:ext cx="9006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6082"/>
                </a:solidFill>
                <a:latin typeface="Courier New"/>
              </a:rPr>
              <a:t>Isolation now covers: S3 raw/curated/analytics prefixes · DynamoDB watermark &amp; entity-type keys · schedules · circuit breakers · queues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Self-Service Control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From engineer-run scripts to a secured, self-service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4343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6082"/>
                </a:solidFill>
                <a:latin typeface="Open Sauce Bold"/>
              </a:rPr>
              <a:t>What Changed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Before: onboarding a new customer meant an engineer manually running CLI scripts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Now: a REST API provisions a tenant, registers entities, and triggers pipeline runs — no engineer required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Secured behind Amazon Cognito with JWT authentication; every call is authenticated and tenant-scoped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Runs on the same serverless stack (Lambda + API Gateway) as the rest of the pipeline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Code-complete and test-covered; not yet exercised against a live deployment — the next step before onboarding a real second customer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166360" y="1664208"/>
            <a:ext cx="4572000" cy="41148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75564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082"/>
                </a:solidFill>
                <a:latin typeface="Open Sauce Bold"/>
              </a:rPr>
              <a:t>Example: Onboard a New Customer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671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POST /tenants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28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Authorization: Bearer &lt;JWT&gt;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5786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{ "tenant_code": "acme", "display_name": "Acme Corp"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7843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9900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POST /tenants/acme/entities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1958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{ "source_id": "salesforce", "entity_id": "account"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4015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6073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POST /tenants/acme/pipeline-runs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8130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{ "source_id": "salesforce", "entity_id": "account"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187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245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# Every call authenticated via Cognito/JWT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02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# tenant_code enforced on every downstream 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6360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870448"/>
            <a:ext cx="9235440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9006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Open Sauce Bold"/>
              </a:rPr>
              <a:t>6 self-service API routes  ·  secured by Cognito/JWT  ·  code-complete, pending live 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Data Source Connectors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Pluggable adapter pattern — add a new source without changing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764792" cy="473659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Salesforce CRM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OAuth 2.0 client_credentials
Bulk API 2.0 (async CSV)
Entities: Account, Contact
Watermark: SystemModstamp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4872" y="1664208"/>
            <a:ext cx="1764792" cy="4736592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MySQL 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78024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AWS Secrets Manager creds
VPC + NAT Gateway
Entity: Contracts (incremental)
Watermark: ModifiedOn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664208"/>
            <a:ext cx="1764792" cy="4736592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8264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Sage Intacct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9976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REST API, OAuth 2.0
Entities: Customer, Vendor,
AR Invoice, AP Bill
Watermark: auditInfo.modifiedAt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1664208"/>
            <a:ext cx="1764792" cy="4736592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Sage X3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1928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REST API, OAuth 2.0
Entities: Customer, Supplier
Same SageConnector adapter
Watermark incremental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0728" y="1664208"/>
            <a:ext cx="1764792" cy="473659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2168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NetSuite ERP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OAuth 1.0a TBA (HMAC-SHA256)
SuiteQL incremental extraction
Entity: Customer (any record type)
Safe pagination up to 100K rows/run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19088"/>
            <a:ext cx="9235440" cy="34747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9006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Open Sauce Bold"/>
              </a:rPr>
              <a:t>All connectors implement ExtractionConnector  ·  3 methods to register a new source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1 — Extraction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Source systems  →  S3 Raw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30906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Processing Steps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Config from DynamoDB: entity_id, load_type, watermark_field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Credentials from Secrets Manager — never in code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Metadata discovery validates schema before querying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Query: full load  or  incremental (watermark window)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MySQL streams via a server-side cursor with pooled connections — no full-table buffering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Schema snapshot saved to S3 after each extraction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Drift detection: added / removed / type-changed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Reliability &amp; Security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Circuit breaker (DynamoDB-backed, tenant-scoped) — stops broken sources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Exponential backoff + jitter on transient errors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Dead-letter queue (SQS) — auto-processed with audit + SNS alert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First-run incremental: epoch (1970) lower bound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S3 Object Lock on raw layer — immutable audit trail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IAM least-privilege scoped to exact S3 prefixes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Run audit log entry written to DynamoDB per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07023"/>
            <a:ext cx="9235440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61887"/>
            <a:ext cx="9006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6082"/>
                </a:solidFill>
                <a:latin typeface="Courier New"/>
              </a:rPr>
              <a:t>S3 path:  s3://edl-raw-087972550871/{tenant_code}/{source}/{entity_id}/extraction_date=YYYY-MM-DD/run_id=.../data.parquet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2 —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Raw Layer  →  Curated Layer  (canonical, quality-checked, PII masked)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30906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Processing Steps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Reads Parquet from raw layer — streaming, no full load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Field mapping: source → canonical names (v1.json)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Transforms: CAST · CONCAT · DATE_FORMAT · DIRECT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Missing field: raise_error / use_default / drop_field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Quality check: completeness, null rate, type conformance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PII masking applies to every source, mapped or not — never skippable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SCD Type 1 merge: partition = full current state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Lineage record emitted for every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Configuration (no code needed)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Mappings stored in S3 (curated bucket) — version-controlled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Path: config/field_mappings/{source}/{entity}/v1.json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No code change to add a mapping — upload JSON + re-run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primary_key_field → upsert merge; absent = append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soft_delete_field → tombstone (is_deleted flag)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Quality thresholds configurable per entity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Output: curated_date=YYYY-MM-DD/run_id=.../data.parquet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07023"/>
            <a:ext cx="9235440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61887"/>
            <a:ext cx="9006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6082"/>
                </a:solidFill>
                <a:latin typeface="Courier New"/>
              </a:rPr>
              <a:t>{ "source_fields":["AnnualRevenue"], "target_field":"annual_revenue", "transformation":"CAST", "type":"decimal", "missing_field_behavior":"use_default", "default_value":"0"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3 — Entity Resolution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Cross-source deduplication  →  one Golden Record per real-world 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171700" cy="1874519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Salesforce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account_id
account_name
billing_country
is_active · annual_revenue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03220" y="1664208"/>
            <a:ext cx="2171700" cy="1874519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29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Sage Intacct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29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customer_id
company_name
credit_limit
outstanding_balance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664208"/>
            <a:ext cx="2171700" cy="1874519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2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Sage X3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customer_code
customer_name
country_code
account_manager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03820" y="1664208"/>
            <a:ext cx="2171700" cy="187451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35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NetSuite 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35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customer_id
company_name
email_address
full_name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7620" y="360273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97132"/>
                </a:solidFill>
                <a:latin typeface="Open Sauce Bold"/>
              </a:rPr>
              <a:t>⬇  MATCH &amp; MERGE  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9372600" cy="1325880"/>
          </a:xfrm>
          <a:prstGeom prst="rect">
            <a:avLst/>
          </a:prstGeom>
          <a:solidFill>
            <a:srgbClr val="FFF8F0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3308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7132"/>
                </a:solidFill>
                <a:latin typeface="Open Sauce Bold"/>
              </a:rPr>
              <a:t>🏆  GOLDEN RECORD  —  company entity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98848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entity_id  ·  account_name  ·  annual_revenue (Salesforce preferred)  ·  credit_limit (Sage preferred)  ·  outstanding_balance  ·  is_active
Survivorship policy: configurable field-level source preference per entity 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58968"/>
            <a:ext cx="9372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Blocking + fuzzy name matching — configurable per entity type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Survivorship: preferred source per field (Salesforce → is_active; Sage → credit_limit)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Streams curated records via DuckDB rather than loading them all into memory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Entity types: company  ·  person  ·  contract  —  extensible via config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Output → s3://edl-analytics-087972550871/{tenant_code}/canonical/{entity_type}/golden_date={date}/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4 — Analytics Publisher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Golden Records  →  Athena-queryable partitioned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4343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6082"/>
                </a:solidFill>
                <a:latin typeface="Open Sauce Bold"/>
              </a:rPr>
              <a:t>What it does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Reads golden records from analytics layer (canonical/ prefix)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Writes partitioned Parquet: analytics_date=YYYY-MM-DD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Registers Glue Data Catalog table (edl_analytics)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Adds Hive partition for the run's analytics_date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Grants Lake Formation permissions to analytics users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Emits an end-to-end pipeline SLA metric — extraction start to analytics-ready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66360" y="1664208"/>
            <a:ext cx="4572000" cy="41148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75564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082"/>
                </a:solidFill>
                <a:latin typeface="Open Sauce Bold"/>
              </a:rPr>
              <a:t>Query in Amazon Athena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671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-- All companies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28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SELECT * FROM edl_analytics.company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5786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WHERE analytics_date='2026-07-02';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7843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9900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-- Active contracts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1958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SELECT COUNT(*) FROM edl_analytics.contract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4015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WHERE analytics_date='2026-07-02'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6073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AND is_deleted = false;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8130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187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-- Cross-entity join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245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SELECT c.account_name, COUNT(k.contract_id)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02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FROM edl_analytics.company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6360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JOIN edl_analytics.contract 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8417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ON c.account_id = k.tenant_id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0474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GROUP BY c.account_name;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2532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70448"/>
            <a:ext cx="9235440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943600"/>
            <a:ext cx="9006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Open Sauce Bold"/>
              </a:rPr>
              <a:t>Live today (dev):  34 companies  ·  49 persons  ·  35,971 contracts  — queryable via Athena right 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Data Governance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Compliance built into the pipeline — not bolted on afterwards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40280" cy="298094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PII Masking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Applied at transformation — before curated write
Covers every source, mapped or not
Policy version-controlled per entity
Non-optional — pipeline fails if policy missing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664208"/>
            <a:ext cx="2240280" cy="2980944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Data Lineage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Emitted for every run:
source → curated → golden record
Field count, run_id, entity_id, timestamp
Queryable via Athena or S3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664208"/>
            <a:ext cx="2240280" cy="2980944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Data Classification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095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Fields: PUBLIC / INTERNAL / CONFIDENTIAL / PII
Applied at source onboarding
Drives masking + retention rules
Registered in AWS Glue Catalog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1664208"/>
            <a:ext cx="2240280" cy="298094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Retention Policy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0839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4496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Configurable per classification tier
Raw: S3 Object Lock (immutable)
Curated/analytics: policy-enforced
Dev: 30-day; Prod: 365-day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09160"/>
            <a:ext cx="9235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383E48"/>
                </a:solidFill>
                <a:latin typeface="Open Sauce Bold"/>
              </a:rPr>
              <a:t>Security Controls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All credentials via AWS Secrets Manager — never in code or logs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IAM least-privilege: roles scoped to exact S3 prefixes and DynamoDB tables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Only designated Lambda role can write to each S3 layer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Missing or malformed tenant IDs fail the request — never a silent shared-tenant default (OWASP A01)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All event inputs validated with regex (OWASP A03 injection prevention)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No record field values ever logged — counts/IDs only (OWASP A09)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Observability &amp;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Every run is measurable, traceable, and self-healing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470916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082"/>
                </a:solidFill>
                <a:latin typeface="Open Sauce Bold"/>
              </a:rPr>
              <a:t>Monitoring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48256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66544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Structured 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JSON per stage: run_id, entity_id, counts — no raw field values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52928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6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CloudWatch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45536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Custom namespace: record_count, latency_ms, quality_score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75888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Run Audit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50208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Immutable DynamoDB record, tenant-scoped: start/end time, count, outcome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62272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Schema Drift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Drift report to S3; CloudWatch alarm on breaking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66944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85232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Credential Rotation Watchdog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59552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Daily check across all 5 source secrets; alerts via SNS if overdue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166420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97132"/>
                </a:solidFill>
                <a:latin typeface="Open Sauce Bold"/>
              </a:rPr>
              <a:t>Reliability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048256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2066544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Step Functions Retries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2340864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Automatic retry with exponential backoff + jitter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7800" y="2852928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871216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Dead-Letter Queue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145536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Auto-processed: audit record + SNS alert, optional auto-replay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57800" y="3657600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3675888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Circuit Breaker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950208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DynamoDB-backed, tenant-scoped — stops hammering broken sources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4462272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4480560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State Machine Guards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4754880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IsNull checks prevent 0-record extractions cascading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5266944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5285232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Idempotency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5559552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Re-running same pipeline = identical output — safe to replay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Infrastructure &amp; DevOps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Terraform-managed  ·  Environment-parity  ·  One Lambda zip for all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470916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Infrastructure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Terraform ≥ 1.8 — full infrastructure as code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Modules: iam · storage · networking · lambda · orchestration · control plane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Remote state: S3 + DynamoDB lock (single-writer safety)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3 environments: dev / staging / prod — all now terraform validate cleanly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New env: init → apply iam → apply lambdas → apply orchestration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One Lambda zip serves all 8 functions (different handlers)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Build: make lambda-package  →  Upload: make lambda-upload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Developer Experience &amp; CI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Python 3.14, hatchling build system, pyproject.toml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Tests: pytest + moto (AWS mocks) — 1,522 passing, 96%+ coverage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Lint: ruff  ·  Types: mypy (scoped)  ·  Security: bandit + detect-secrets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Banned generic identifiers (helper/util/manager) blocked in CI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Coverage gate: 80% — enforced in CI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Local dry-run scripts — test connectivity, no S3 write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CI: lint → banned-names → type-check → test → security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Live Data — Dev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Real business data flowing end-to-end  ·  as of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447800" cy="178308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35,971+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Contracts
(MySQL RDS)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2160" y="1664208"/>
            <a:ext cx="1447800" cy="178308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216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216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Companies
(Salesforce)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1400" y="1664208"/>
            <a:ext cx="1447800" cy="178308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140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Persons
(Salesforce)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664208"/>
            <a:ext cx="1447800" cy="1783080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Sources
connected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59880" y="1664208"/>
            <a:ext cx="1447800" cy="178308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988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&lt; 4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988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End-to-end
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9120" y="1664208"/>
            <a:ext cx="1447800" cy="1783080"/>
          </a:xfrm>
          <a:prstGeom prst="rect">
            <a:avLst/>
          </a:prstGeom>
          <a:solidFill>
            <a:srgbClr val="4EA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912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912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Mapping
failures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02736"/>
            <a:ext cx="242316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5760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Entity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3602736"/>
            <a:ext cx="160020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0088" y="36576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Load type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3602736"/>
            <a:ext cx="137160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36576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3602736"/>
            <a:ext cx="256032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365760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Athena table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58200" y="3602736"/>
            <a:ext cx="621792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22208" y="3657600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Status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31920"/>
            <a:ext cx="2423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986784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MySQL — Contracts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3931920"/>
            <a:ext cx="1600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90088" y="398678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 (SCD1)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6280" y="3931920"/>
            <a:ext cx="1371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0288" y="39867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35,971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931920"/>
            <a:ext cx="25603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61888" y="398678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edl_analytics.contract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58200" y="3931920"/>
            <a:ext cx="62179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3986784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261104"/>
            <a:ext cx="242316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15968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Salesforce Account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4261104"/>
            <a:ext cx="160020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90088" y="4315968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Full 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26280" y="4261104"/>
            <a:ext cx="137160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0288" y="43159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4261104"/>
            <a:ext cx="256032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61888" y="4315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edl_analytics.company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58200" y="4261104"/>
            <a:ext cx="621792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22208" y="4315968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90288"/>
            <a:ext cx="2423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64515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Salesforce Contact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0" y="4590288"/>
            <a:ext cx="1600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90088" y="46451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590288"/>
            <a:ext cx="1371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0288" y="464515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49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80" y="4590288"/>
            <a:ext cx="25603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61888" y="464515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edl_analytics.person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58200" y="4590288"/>
            <a:ext cx="62179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22208" y="4645152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919472"/>
            <a:ext cx="242316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4974336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Sage Intacct Customer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26080" y="4919472"/>
            <a:ext cx="160020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90088" y="4974336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26280" y="4919472"/>
            <a:ext cx="137160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90288" y="497433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Live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97880" y="4919472"/>
            <a:ext cx="256032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61888" y="497433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edl_analytics.company (merged)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58200" y="4919472"/>
            <a:ext cx="621792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22208" y="4974336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248656"/>
            <a:ext cx="2423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30352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Sage Intacct Vendor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926080" y="5248656"/>
            <a:ext cx="1600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0088" y="53035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26280" y="5248656"/>
            <a:ext cx="1371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90288" y="530352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Live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97880" y="5248656"/>
            <a:ext cx="25603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61888" y="53035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Curated layer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58200" y="5248656"/>
            <a:ext cx="62179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22208" y="5303520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577840"/>
            <a:ext cx="242316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" y="5632704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NetSuite — Customer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926080" y="5577840"/>
            <a:ext cx="160020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990088" y="563270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 (SCD1)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26280" y="5577840"/>
            <a:ext cx="137160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90288" y="563270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Built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897880" y="5577840"/>
            <a:ext cx="2560320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61888" y="5632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edl_analytics.company (ready)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58200" y="5577840"/>
            <a:ext cx="621792" cy="32918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22208" y="5632704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5998464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Open Sauce"/>
              </a:rPr>
              <a:t>Athena workgroup: EdlAnalytics  ·  Database: edl_analytics  ·  Account: 087972550871 / us-east-1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Business Outcomes &amp; 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Measurable improvements delivered — compared to before the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3017520" cy="365760"/>
          </a:xfrm>
          <a:prstGeom prst="rect">
            <a:avLst/>
          </a:prstGeom>
          <a:solidFill>
            <a:srgbClr val="383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664208"/>
            <a:ext cx="2788920" cy="36576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7373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Before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64208"/>
            <a:ext cx="3429000" cy="36576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30175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93976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Time to data availability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029968"/>
            <a:ext cx="2788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0939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24–72 hours (manual)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029968"/>
            <a:ext cx="3429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939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1–4 hours (automated)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30175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78024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Customer identity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2414016"/>
            <a:ext cx="27889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247802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3 disconnected views per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414016"/>
            <a:ext cx="34290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47802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Single golden record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798064"/>
            <a:ext cx="30175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62072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PII in analytics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2798064"/>
            <a:ext cx="2788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286207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Uncontrolled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798064"/>
            <a:ext cx="3429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8620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Masked at pipeline level, always-on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82112"/>
            <a:ext cx="30175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246120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Audit trail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3182112"/>
            <a:ext cx="27889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324612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182112"/>
            <a:ext cx="34290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2461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Full lineage: source→golden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30175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630168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New source onboarding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20440" y="3566160"/>
            <a:ext cx="2788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11880" y="363016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2–4 weeks (code + deploy)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3566160"/>
            <a:ext cx="3429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363016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2–3 days (config only)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50208"/>
            <a:ext cx="30175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14216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New customer onboarding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20440" y="3950208"/>
            <a:ext cx="27889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401421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Shared environment, no isolation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950208"/>
            <a:ext cx="34290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40142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Self-service API, tenant-isolated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34256"/>
            <a:ext cx="30175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4398264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Credential security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20440" y="4334256"/>
            <a:ext cx="2788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39826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Scripts + shared .env 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334256"/>
            <a:ext cx="3429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39826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AWS Secrets Manager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91456"/>
            <a:ext cx="923544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4882896"/>
            <a:ext cx="9006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AWS Infrastructure: ~$469/month  ·  vs. Fivetran SaaS: $3,000–$5,000/month per source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212080"/>
            <a:ext cx="9006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Open Sauce"/>
              </a:rPr>
              <a:t>Payback: &lt; 1 month  ·  Plus 40–60 hrs/month avoided labour cost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541264"/>
            <a:ext cx="9006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7132"/>
                </a:solidFill>
                <a:latin typeface="Open Sauce Bold"/>
              </a:rPr>
              <a:t>10× cost saving vs. SaaS — with full ownership and control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Purpose-built on proven AWS-native services and open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447800" cy="482803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Runtime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Python 3.14 — AWS Lambda
PyArrow — Parquet I/O
DuckDB — streaming reads
Pydantic — config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7880" y="1664208"/>
            <a:ext cx="1447800" cy="4828032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760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103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760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AWS Step Functions
Amazon EventBridge
AWS Lambda (8 fn, 1 zip)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2840" y="1664208"/>
            <a:ext cx="1447800" cy="4828032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256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599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256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Amazon S3 (3 data layers)
Amazon DynamoDB (4 tables)
AWS Glue Data Catalog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1664208"/>
            <a:ext cx="1447800" cy="4828032"/>
          </a:xfrm>
          <a:prstGeom prst="rect">
            <a:avLst/>
          </a:prstGeom>
          <a:solidFill>
            <a:srgbClr val="C05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Analytics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095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6752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Amazon Athena (SQL queries)
AWS Lake Formation
Apache Parquet (columnar)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42760" y="1664208"/>
            <a:ext cx="1447800" cy="4828032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248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Security &amp; Ops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1591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248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AWS Secrets Manager
Amazon Cognito (JWT auth)
AWS IAM (least-privilege)
Amazon CloudWatch  ·  SQS DLQ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27720" y="1664208"/>
            <a:ext cx="1447800" cy="4828032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3744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DevOps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087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3744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Terraform ≥ 1.8 (IaC)
pytest + moto (testing)
ruff + mypy + bandit + detect-secrets
GitHub Actions CI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What's Next —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Dev is live and hardened  ·  Staging and Production are the immediate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05990" cy="384048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Now — Dev 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167128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All 4 Lambda stages live &amp;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54956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4 sources live: Salesforce, MySQL, 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342785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NetSuite connector code-complete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930613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Multi-tenant isolation hardened &amp; tested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518442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Self-service control plane code-complete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5106270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35,971+ records in analytics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5694099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Entity resolution: golden records live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1790" y="1664208"/>
            <a:ext cx="220599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323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Next — Staging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179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1518" y="2167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Terraform now validates cleanly — apply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1518" y="28529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Provision staging DynamoDB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1518" y="35387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Upload Lambda zip to staging 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1518" y="42245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Deploy control plane, verify JWT claims path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1518" y="49103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Seed entity configs to staging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1518" y="5596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End-to-end smoke test + sign-off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80660" y="1664208"/>
            <a:ext cx="2205990" cy="384048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10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Soon — Production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8066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0388" y="2167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Prod infrastructure provisioning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0388" y="28529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Pilot tenant onboarding (1 week, live traffic)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0388" y="35387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Load test at target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0388" y="42245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365-day log retention (in HCL already)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0388" y="49103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Credential rotation policy enabled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0388" y="5596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Go-live readiness checklist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69530" y="1664208"/>
            <a:ext cx="2205990" cy="38404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6097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Backlog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6953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9258" y="2167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IAM-enforced tenant isolation (beyond app-level)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9258" y="28529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Tenant-scope field-mapping &amp; survivorship configs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9258" y="35387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NetSuite — activate credentials &amp; go live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9258" y="42245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Automatic resume from a checkpointed timeout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9258" y="49103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Sage X3 entity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9258" y="5596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Serving store loader (write-back)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8686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383E48"/>
                </a:solidFill>
                <a:latin typeface="Open Sauce Bold"/>
              </a:rPr>
              <a:t>A Platform Built
for the Long Term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03120"/>
            <a:ext cx="9326880" cy="38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0280"/>
            <a:ext cx="292608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6856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286000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Automated, end-to-end pipeline — running in the dev environment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07208"/>
            <a:ext cx="292608" cy="42062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43784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52928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Five source connectors — four live, NetSuite code-complete and pagination-safe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74136"/>
            <a:ext cx="292608" cy="42062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10712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419856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Entity resolution delivering one golden record per customer, streamed at scale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41064"/>
            <a:ext cx="292608" cy="420624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986784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Multi-tenant isolation built in — every layer separated by tenant, regression-tested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07992"/>
            <a:ext cx="292608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544568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553712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Self-service control plane ready to onboard the next customer via API, not scripts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292608" cy="42062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111496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5120640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Queryable in standard SQL via Amazon Athena — no exports, no waiting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641848"/>
            <a:ext cx="292608" cy="42062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678424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687568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10× lower cost than SaaS alternatives — with full ownership and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Platform Engineering  · 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